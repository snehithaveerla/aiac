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6FE1186-2C62-48BD-8FF3-706BA6052D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DB33F3B-0689-405C-8B3E-369BA4CEDF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C48CFBBD-B2DA-471D-B3F3-FD5A7D862D0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03B8F6D-4063-49C8-B2D5-489163C174B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CB5A5BE-3F39-457D-A3A8-86F73ACE63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7C6FFBC-6BFA-4A6C-8569-45BDD31EBEE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8CB5A5BE-3F39-457D-A3A8-86F73ACE639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36D292-3E41-4E18-8547-6D2FA11584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BDFC6B-44B7-4403-8B0F-3127230D29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905500" cy="6858000"/>
          </a:xfrm>
          <a:prstGeom prst="rect">
            <a:avLst/>
          </a:prstGeom>
          <a:solidFill>
            <a:srgbClr val="1424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B3BE43-BB97-48EB-91E2-D7A7636E7BD7}"/>
              </a:ext>
            </a:extLst>
          </p:cNvPr>
          <p:cNvSpPr>
            <a:spLocks noGrp="1"/>
          </p:cNvSpPr>
          <p:nvPr/>
        </p:nvSpPr>
        <p:spPr>
          <a:xfrm>
            <a:off x="5905500" y="0"/>
            <a:ext cx="6286500" cy="6858000"/>
          </a:xfrm>
          <a:prstGeom prst="rect">
            <a:avLst/>
          </a:prstGeom>
          <a:solidFill>
            <a:srgbClr val="0A14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E1C4F08-9065-46B5-8C0F-5433D1FDE79B}"/>
              </a:ext>
            </a:extLst>
          </p:cNvPr>
          <p:cNvSpPr>
            <a:spLocks noGrp="1"/>
          </p:cNvSpPr>
          <p:nvPr/>
        </p:nvSpPr>
        <p:spPr>
          <a:xfrm>
            <a:off x="-1143000" y="4953000"/>
            <a:ext cx="3048000" cy="3048000"/>
          </a:xfrm>
          <a:prstGeom prst="ellipse">
            <a:avLst/>
          </a:prstGeom>
          <a:solidFill>
            <a:srgbClr val="1334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C4A1C8F-534D-44B9-9640-2181A4E3A936}"/>
              </a:ext>
            </a:extLst>
          </p:cNvPr>
          <p:cNvSpPr>
            <a:spLocks noGrp="1"/>
          </p:cNvSpPr>
          <p:nvPr/>
        </p:nvSpPr>
        <p:spPr>
          <a:xfrm>
            <a:off x="9620250" y="-666750"/>
            <a:ext cx="2095500" cy="2095500"/>
          </a:xfrm>
          <a:prstGeom prst="ellipse">
            <a:avLst/>
          </a:prstGeom>
          <a:solidFill>
            <a:srgbClr val="123A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8C3F341-609E-40BF-AA04-3E59A3A79107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3429000" cy="323850"/>
          </a:xfrm>
          <a:prstGeom prst="roundRect">
            <a:avLst>
              <a:gd name="adj" fmla="val 23529"/>
            </a:avLst>
          </a:prstGeom>
          <a:solidFill>
            <a:srgbClr val="112A23"/>
          </a:solidFill>
          <a:ln w="9525">
            <a:solidFill>
              <a:srgbClr val="18A972"/>
            </a:solidFill>
            <a:prstDash val="solid"/>
          </a:ln>
        </p:spPr>
        <p:txBody>
          <a:bodyPr lIns="95250" tIns="76200" rIns="95250" bIns="76200" anchor="ctr">
            <a:normAutofit fontScale="92500" lnSpcReduction="10000"/>
          </a:bodyPr>
          <a:lstStyle/>
          <a:p>
            <a:pPr algn="ctr">
              <a:defRPr sz="975" b="1">
                <a:solidFill>
                  <a:srgbClr val="1FC18A"/>
                </a:solidFill>
              </a:defRPr>
            </a:pPr>
            <a:r>
              <a:rPr sz="975" b="1">
                <a:solidFill>
                  <a:srgbClr val="1FC18A"/>
                </a:solidFill>
              </a:rPr>
              <a:t>AIAC - AI ASSISTED CODING IN TECHNOLOGY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BABDF7-D16B-438C-B84D-5BF585FE2AC7}"/>
              </a:ext>
            </a:extLst>
          </p:cNvPr>
          <p:cNvSpPr>
            <a:spLocks noGrp="1"/>
          </p:cNvSpPr>
          <p:nvPr/>
        </p:nvSpPr>
        <p:spPr>
          <a:xfrm>
            <a:off x="571500" y="1009650"/>
            <a:ext cx="4381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/>
          </a:bodyPr>
          <a:lstStyle/>
          <a:p>
            <a:pPr>
              <a:defRPr sz="2550" b="1">
                <a:solidFill>
                  <a:srgbClr val="F8FAFC"/>
                </a:solidFill>
              </a:defRPr>
            </a:pPr>
            <a:r>
              <a:rPr sz="2550" b="1" dirty="0">
                <a:solidFill>
                  <a:srgbClr val="F8FAFC"/>
                </a:solidFill>
              </a:rPr>
              <a:t>AI</a:t>
            </a:r>
            <a:r>
              <a:rPr lang="en-IN" sz="2550" b="1" dirty="0">
                <a:solidFill>
                  <a:srgbClr val="F8FAFC"/>
                </a:solidFill>
              </a:rPr>
              <a:t> </a:t>
            </a:r>
            <a:r>
              <a:rPr sz="2550" b="1" dirty="0">
                <a:solidFill>
                  <a:srgbClr val="F8FAFC"/>
                </a:solidFill>
              </a:rPr>
              <a:t>Waste</a:t>
            </a:r>
            <a:r>
              <a:rPr lang="en-IN" sz="2550" b="1" dirty="0">
                <a:solidFill>
                  <a:srgbClr val="F8FAFC"/>
                </a:solidFill>
              </a:rPr>
              <a:t> Management App</a:t>
            </a:r>
          </a:p>
          <a:p>
            <a:pPr algn="l">
              <a:defRPr sz="2550" b="1">
                <a:solidFill>
                  <a:srgbClr val="F8FAFC"/>
                </a:solidFill>
              </a:defRPr>
            </a:pPr>
            <a:endParaRPr sz="2550" b="1" dirty="0">
              <a:solidFill>
                <a:srgbClr val="F8FAFC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2FF972-0BEC-47CE-8B99-CE1E7EAC8BCF}"/>
              </a:ext>
            </a:extLst>
          </p:cNvPr>
          <p:cNvSpPr>
            <a:spLocks noGrp="1"/>
          </p:cNvSpPr>
          <p:nvPr/>
        </p:nvSpPr>
        <p:spPr>
          <a:xfrm>
            <a:off x="571500" y="2171700"/>
            <a:ext cx="42862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/>
          </a:bodyPr>
          <a:lstStyle/>
          <a:p>
            <a:pPr algn="l">
              <a:defRPr sz="1350" b="0">
                <a:solidFill>
                  <a:srgbClr val="B9C1D3"/>
                </a:solidFill>
              </a:defRPr>
            </a:pPr>
            <a:endParaRPr sz="1350" b="0" dirty="0">
              <a:solidFill>
                <a:srgbClr val="B9C1D3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243A3D4-50F8-4FD3-A6F1-6BCB17BC4CB3}"/>
              </a:ext>
            </a:extLst>
          </p:cNvPr>
          <p:cNvSpPr>
            <a:spLocks noGrp="1"/>
          </p:cNvSpPr>
          <p:nvPr/>
        </p:nvSpPr>
        <p:spPr>
          <a:xfrm>
            <a:off x="571500" y="3048000"/>
            <a:ext cx="2381250" cy="1809750"/>
          </a:xfrm>
          <a:prstGeom prst="roundRect">
            <a:avLst>
              <a:gd name="adj" fmla="val 4211"/>
            </a:avLst>
          </a:prstGeom>
          <a:solidFill>
            <a:srgbClr val="1A2438"/>
          </a:solidFill>
          <a:ln w="11430">
            <a:solidFill>
              <a:srgbClr val="31415E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88EE34-79C2-4032-8C58-A2A77903E65F}"/>
              </a:ext>
            </a:extLst>
          </p:cNvPr>
          <p:cNvSpPr>
            <a:spLocks noGrp="1"/>
          </p:cNvSpPr>
          <p:nvPr/>
        </p:nvSpPr>
        <p:spPr>
          <a:xfrm>
            <a:off x="571500" y="3048000"/>
            <a:ext cx="76200" cy="1809750"/>
          </a:xfrm>
          <a:prstGeom prst="rect">
            <a:avLst/>
          </a:prstGeom>
          <a:solidFill>
            <a:srgbClr val="1FC1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4907F3-78A4-4B87-8174-C7F273FBB913}"/>
              </a:ext>
            </a:extLst>
          </p:cNvPr>
          <p:cNvSpPr>
            <a:spLocks noGrp="1"/>
          </p:cNvSpPr>
          <p:nvPr/>
        </p:nvSpPr>
        <p:spPr>
          <a:xfrm>
            <a:off x="781050" y="3219450"/>
            <a:ext cx="2076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56652" lnSpcReduction="10000"/>
          </a:bodyPr>
          <a:lstStyle/>
          <a:p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Student Details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094785-2EA0-4C5B-A12E-2E27C2DDB799}"/>
              </a:ext>
            </a:extLst>
          </p:cNvPr>
          <p:cNvSpPr>
            <a:spLocks noGrp="1"/>
          </p:cNvSpPr>
          <p:nvPr/>
        </p:nvSpPr>
        <p:spPr>
          <a:xfrm>
            <a:off x="800100" y="3600450"/>
            <a:ext cx="200025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/>
          </a:bodyPr>
          <a:lstStyle/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Name: V. Snehitha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Hall Ticket No: 2303A52331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Batch: 39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Course: AIAC - AI Assistant Coding in Technology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2C9F450-33A0-4E2D-BC40-0E65B1D0E9E4}"/>
              </a:ext>
            </a:extLst>
          </p:cNvPr>
          <p:cNvSpPr>
            <a:spLocks noGrp="1"/>
          </p:cNvSpPr>
          <p:nvPr/>
        </p:nvSpPr>
        <p:spPr>
          <a:xfrm>
            <a:off x="3143250" y="3048000"/>
            <a:ext cx="2381250" cy="1809750"/>
          </a:xfrm>
          <a:prstGeom prst="roundRect">
            <a:avLst>
              <a:gd name="adj" fmla="val 4211"/>
            </a:avLst>
          </a:prstGeom>
          <a:solidFill>
            <a:srgbClr val="1A2438"/>
          </a:solidFill>
          <a:ln w="11430">
            <a:solidFill>
              <a:srgbClr val="31415E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CA1543-3E1A-49C0-B364-260B5016F279}"/>
              </a:ext>
            </a:extLst>
          </p:cNvPr>
          <p:cNvSpPr>
            <a:spLocks noGrp="1"/>
          </p:cNvSpPr>
          <p:nvPr/>
        </p:nvSpPr>
        <p:spPr>
          <a:xfrm>
            <a:off x="3143250" y="3048000"/>
            <a:ext cx="76200" cy="1809750"/>
          </a:xfrm>
          <a:prstGeom prst="rect">
            <a:avLst/>
          </a:prstGeom>
          <a:solidFill>
            <a:srgbClr val="41B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B23D8A-02EC-4DB9-8C71-60CD72B63A34}"/>
              </a:ext>
            </a:extLst>
          </p:cNvPr>
          <p:cNvSpPr>
            <a:spLocks noGrp="1"/>
          </p:cNvSpPr>
          <p:nvPr/>
        </p:nvSpPr>
        <p:spPr>
          <a:xfrm>
            <a:off x="3352800" y="3219450"/>
            <a:ext cx="2076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56652" lnSpcReduction="10000"/>
          </a:bodyPr>
          <a:lstStyle/>
          <a:p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ML Models / AI Scope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251FCE-D18C-434C-BB6A-3469D971298C}"/>
              </a:ext>
            </a:extLst>
          </p:cNvPr>
          <p:cNvSpPr>
            <a:spLocks noGrp="1"/>
          </p:cNvSpPr>
          <p:nvPr/>
        </p:nvSpPr>
        <p:spPr>
          <a:xfrm>
            <a:off x="3371850" y="3600450"/>
            <a:ext cx="200025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65280" lnSpcReduction="10000"/>
          </a:bodyPr>
          <a:lstStyle/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Vision-based waste category prediction using Groq Llama model calls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AI-assisted driver allocation for route optimization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Analytics, complaints, tasks, routes, and segregation insights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Scope: smart municipal waste monitoring and operational decision support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63B313-50C1-43A3-90E9-C25897AF719C}"/>
              </a:ext>
            </a:extLst>
          </p:cNvPr>
          <p:cNvSpPr>
            <a:spLocks noGrp="1"/>
          </p:cNvSpPr>
          <p:nvPr/>
        </p:nvSpPr>
        <p:spPr>
          <a:xfrm>
            <a:off x="571500" y="516255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54311" lnSpcReduction="10000"/>
          </a:bodyPr>
          <a:lstStyle/>
          <a:p>
            <a:pPr algn="l">
              <a:defRPr sz="1050" b="1">
                <a:solidFill>
                  <a:srgbClr val="1FC18A"/>
                </a:solidFill>
              </a:defRPr>
            </a:pPr>
            <a:r>
              <a:rPr sz="1050" b="1">
                <a:solidFill>
                  <a:srgbClr val="1FC18A"/>
                </a:solidFill>
              </a:rPr>
              <a:t>Project Name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9F02928-EFAA-4BF5-87B1-9C66F930CF53}"/>
              </a:ext>
            </a:extLst>
          </p:cNvPr>
          <p:cNvSpPr>
            <a:spLocks noGrp="1"/>
          </p:cNvSpPr>
          <p:nvPr/>
        </p:nvSpPr>
        <p:spPr>
          <a:xfrm>
            <a:off x="571500" y="5391150"/>
            <a:ext cx="342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96247" lnSpcReduction="10000"/>
          </a:bodyPr>
          <a:lstStyle/>
          <a:p>
            <a:pPr algn="l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AIWaste Management App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72250" y="2245191"/>
            <a:ext cx="5048250" cy="2167592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AE9D521-133A-49C4-B65D-4E0324258544}"/>
              </a:ext>
            </a:extLst>
          </p:cNvPr>
          <p:cNvSpPr>
            <a:spLocks noGrp="1"/>
          </p:cNvSpPr>
          <p:nvPr/>
        </p:nvSpPr>
        <p:spPr>
          <a:xfrm>
            <a:off x="6438900" y="742950"/>
            <a:ext cx="5314950" cy="5172075"/>
          </a:xfrm>
          <a:prstGeom prst="roundRect">
            <a:avLst>
              <a:gd name="adj" fmla="val 1473"/>
            </a:avLst>
          </a:prstGeom>
          <a:solidFill>
            <a:srgbClr val="000000">
              <a:alpha val="0"/>
            </a:srgbClr>
          </a:solidFill>
          <a:ln w="13335">
            <a:solidFill>
              <a:srgbClr val="31415E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9A722D3-7A38-42E5-8140-C6D181D44019}"/>
              </a:ext>
            </a:extLst>
          </p:cNvPr>
          <p:cNvSpPr>
            <a:spLocks noGrp="1"/>
          </p:cNvSpPr>
          <p:nvPr/>
        </p:nvSpPr>
        <p:spPr>
          <a:xfrm>
            <a:off x="6724650" y="594360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57912" lnSpcReduction="10000"/>
          </a:bodyPr>
          <a:lstStyle/>
          <a:p>
            <a:pPr algn="l">
              <a:defRPr sz="975" b="0">
                <a:solidFill>
                  <a:srgbClr val="1FC18A"/>
                </a:solidFill>
              </a:defRPr>
            </a:pPr>
            <a:r>
              <a:rPr sz="975" b="0">
                <a:solidFill>
                  <a:srgbClr val="1FC18A"/>
                </a:solidFill>
              </a:rPr>
              <a:t>Live dashboard preview from the app</a:t>
            </a:r>
          </a:p>
        </p:txBody>
      </p:sp>
    </p:spTree>
    <p:extLst>
      <p:ext uri="{BB962C8B-B14F-4D97-AF65-F5344CB8AC3E}">
        <p14:creationId xmlns:p14="http://schemas.microsoft.com/office/powerpoint/2010/main" val="1243848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5">
            <a:extLst>
              <a:ext uri="{FF2B5EF4-FFF2-40B4-BE49-F238E27FC236}">
                <a16:creationId xmlns:a16="http://schemas.microsoft.com/office/drawing/2014/main" id="{8CB5A5BE-3F39-457D-A3A8-86F73ACE639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546E52-133B-42CD-9C90-E559E95D65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2CB51A-1512-4779-B868-B46DC433AE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424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E7EF85-F204-49BF-BD24-2A8C25C8F179}"/>
              </a:ext>
            </a:extLst>
          </p:cNvPr>
          <p:cNvSpPr>
            <a:spLocks noGrp="1"/>
          </p:cNvSpPr>
          <p:nvPr/>
        </p:nvSpPr>
        <p:spPr>
          <a:xfrm>
            <a:off x="552450" y="171450"/>
            <a:ext cx="8001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95721" lnSpcReduction="10000"/>
          </a:bodyPr>
          <a:lstStyle/>
          <a:p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Introduction Of Project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3358EF-0741-49E6-AFFF-1BDF6636EA52}"/>
              </a:ext>
            </a:extLst>
          </p:cNvPr>
          <p:cNvSpPr>
            <a:spLocks noGrp="1"/>
          </p:cNvSpPr>
          <p:nvPr/>
        </p:nvSpPr>
        <p:spPr>
          <a:xfrm>
            <a:off x="10382250" y="20955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81920" lnSpcReduction="10000"/>
          </a:bodyPr>
          <a:lstStyle/>
          <a:p>
            <a:pPr algn="r">
              <a:defRPr sz="1050" b="1">
                <a:solidFill>
                  <a:srgbClr val="1FC18A"/>
                </a:solidFill>
              </a:defRPr>
            </a:pPr>
            <a:r>
              <a:rPr sz="1050" b="1">
                <a:solidFill>
                  <a:srgbClr val="1FC18A"/>
                </a:solidFill>
              </a:rPr>
              <a:t>Slide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7339D2-7BCD-43EC-952D-AD8CD9298978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1087100" cy="19050"/>
          </a:xfrm>
          <a:prstGeom prst="rect">
            <a:avLst/>
          </a:prstGeom>
          <a:solidFill>
            <a:srgbClr val="1FC1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6E86BEF-1807-4D01-9570-58DE1626541A}"/>
              </a:ext>
            </a:extLst>
          </p:cNvPr>
          <p:cNvSpPr>
            <a:spLocks noGrp="1"/>
          </p:cNvSpPr>
          <p:nvPr/>
        </p:nvSpPr>
        <p:spPr>
          <a:xfrm>
            <a:off x="552450" y="1104900"/>
            <a:ext cx="5314950" cy="1981200"/>
          </a:xfrm>
          <a:prstGeom prst="roundRect">
            <a:avLst>
              <a:gd name="adj" fmla="val 3846"/>
            </a:avLst>
          </a:prstGeom>
          <a:solidFill>
            <a:srgbClr val="1A2438"/>
          </a:solidFill>
          <a:ln w="11430">
            <a:solidFill>
              <a:srgbClr val="31415E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2460C7-5322-4A2E-A60A-C96A3610C0EE}"/>
              </a:ext>
            </a:extLst>
          </p:cNvPr>
          <p:cNvSpPr>
            <a:spLocks noGrp="1"/>
          </p:cNvSpPr>
          <p:nvPr/>
        </p:nvSpPr>
        <p:spPr>
          <a:xfrm>
            <a:off x="552450" y="1104900"/>
            <a:ext cx="76200" cy="1981200"/>
          </a:xfrm>
          <a:prstGeom prst="rect">
            <a:avLst/>
          </a:prstGeom>
          <a:solidFill>
            <a:srgbClr val="1FC1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495828-50D8-475C-B8A7-5262BECBEFF8}"/>
              </a:ext>
            </a:extLst>
          </p:cNvPr>
          <p:cNvSpPr>
            <a:spLocks noGrp="1"/>
          </p:cNvSpPr>
          <p:nvPr/>
        </p:nvSpPr>
        <p:spPr>
          <a:xfrm>
            <a:off x="762000" y="1276350"/>
            <a:ext cx="5010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56652" lnSpcReduction="10000"/>
          </a:bodyPr>
          <a:lstStyle/>
          <a:p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Problem Statement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0D3B62-CCC8-4EDF-91BC-929453DAB0AB}"/>
              </a:ext>
            </a:extLst>
          </p:cNvPr>
          <p:cNvSpPr>
            <a:spLocks noGrp="1"/>
          </p:cNvSpPr>
          <p:nvPr/>
        </p:nvSpPr>
        <p:spPr>
          <a:xfrm>
            <a:off x="781050" y="1657350"/>
            <a:ext cx="4933950" cy="1295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/>
          </a:bodyPr>
          <a:lstStyle/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Manual waste collection and complaint handling are slow, reactive, and difficult to monitor.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Cities need a smarter way to classify waste, dispatch drivers, and track service quality in one place.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A92E015-81CE-46E4-8C0A-5D7068D04A2D}"/>
              </a:ext>
            </a:extLst>
          </p:cNvPr>
          <p:cNvSpPr>
            <a:spLocks noGrp="1"/>
          </p:cNvSpPr>
          <p:nvPr/>
        </p:nvSpPr>
        <p:spPr>
          <a:xfrm>
            <a:off x="6076950" y="1104900"/>
            <a:ext cx="5562600" cy="1981200"/>
          </a:xfrm>
          <a:prstGeom prst="roundRect">
            <a:avLst>
              <a:gd name="adj" fmla="val 3846"/>
            </a:avLst>
          </a:prstGeom>
          <a:solidFill>
            <a:srgbClr val="1A2438"/>
          </a:solidFill>
          <a:ln w="11430">
            <a:solidFill>
              <a:srgbClr val="31415E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0723FA-652D-4D74-BF56-B7EFE487A5BB}"/>
              </a:ext>
            </a:extLst>
          </p:cNvPr>
          <p:cNvSpPr>
            <a:spLocks noGrp="1"/>
          </p:cNvSpPr>
          <p:nvPr/>
        </p:nvSpPr>
        <p:spPr>
          <a:xfrm>
            <a:off x="6076950" y="1104900"/>
            <a:ext cx="76200" cy="1981200"/>
          </a:xfrm>
          <a:prstGeom prst="rect">
            <a:avLst/>
          </a:prstGeom>
          <a:solidFill>
            <a:srgbClr val="41B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7D01E5-46C3-43D3-BE1A-13D64F5660D6}"/>
              </a:ext>
            </a:extLst>
          </p:cNvPr>
          <p:cNvSpPr>
            <a:spLocks noGrp="1"/>
          </p:cNvSpPr>
          <p:nvPr/>
        </p:nvSpPr>
        <p:spPr>
          <a:xfrm>
            <a:off x="6286500" y="1276350"/>
            <a:ext cx="5257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56652" lnSpcReduction="10000"/>
          </a:bodyPr>
          <a:lstStyle/>
          <a:p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Project Overview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AD4166-8E02-4B40-B8BF-3EC45A54F969}"/>
              </a:ext>
            </a:extLst>
          </p:cNvPr>
          <p:cNvSpPr>
            <a:spLocks noGrp="1"/>
          </p:cNvSpPr>
          <p:nvPr/>
        </p:nvSpPr>
        <p:spPr>
          <a:xfrm>
            <a:off x="6305550" y="1657350"/>
            <a:ext cx="5181600" cy="1295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/>
          </a:bodyPr>
          <a:lstStyle/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AIWaste Management App is a web application for smart waste operations.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It combines analytics, complaint management, task dispatching, driver tracking, and AI-based waste analysis.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The shared project includes backend APIs, MongoDB models, AI prompts, and a Vite/React frontend structure.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64059D4-8D32-4C73-8A39-92B71679450D}"/>
              </a:ext>
            </a:extLst>
          </p:cNvPr>
          <p:cNvSpPr>
            <a:spLocks noGrp="1"/>
          </p:cNvSpPr>
          <p:nvPr/>
        </p:nvSpPr>
        <p:spPr>
          <a:xfrm>
            <a:off x="552450" y="3390900"/>
            <a:ext cx="2590800" cy="1371600"/>
          </a:xfrm>
          <a:prstGeom prst="roundRect">
            <a:avLst>
              <a:gd name="adj" fmla="val 5556"/>
            </a:avLst>
          </a:prstGeom>
          <a:solidFill>
            <a:srgbClr val="1A2438"/>
          </a:solidFill>
          <a:ln w="10478">
            <a:solidFill>
              <a:srgbClr val="31415E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4BE2CC-EB46-42A0-9211-E43991AFC278}"/>
              </a:ext>
            </a:extLst>
          </p:cNvPr>
          <p:cNvSpPr>
            <a:spLocks noGrp="1"/>
          </p:cNvSpPr>
          <p:nvPr/>
        </p:nvSpPr>
        <p:spPr>
          <a:xfrm>
            <a:off x="552450" y="3390900"/>
            <a:ext cx="2590800" cy="57150"/>
          </a:xfrm>
          <a:prstGeom prst="rect">
            <a:avLst/>
          </a:prstGeom>
          <a:solidFill>
            <a:srgbClr val="1FC1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1A0E377-FE2F-447A-8B9E-1E286D4EFFF6}"/>
              </a:ext>
            </a:extLst>
          </p:cNvPr>
          <p:cNvSpPr>
            <a:spLocks noGrp="1"/>
          </p:cNvSpPr>
          <p:nvPr/>
        </p:nvSpPr>
        <p:spPr>
          <a:xfrm>
            <a:off x="704850" y="35242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51191" lnSpcReduction="10000"/>
          </a:bodyPr>
          <a:lstStyle/>
          <a:p>
            <a:pPr algn="l">
              <a:defRPr sz="1125" b="1">
                <a:solidFill>
                  <a:srgbClr val="1FC18A"/>
                </a:solidFill>
              </a:defRPr>
            </a:pPr>
            <a:r>
              <a:rPr sz="1125" b="1">
                <a:solidFill>
                  <a:srgbClr val="1FC18A"/>
                </a:solidFill>
              </a:rPr>
              <a:t>Core Module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4A4848-632C-40FF-B0B0-012BE2068F06}"/>
              </a:ext>
            </a:extLst>
          </p:cNvPr>
          <p:cNvSpPr>
            <a:spLocks noGrp="1"/>
          </p:cNvSpPr>
          <p:nvPr/>
        </p:nvSpPr>
        <p:spPr>
          <a:xfrm>
            <a:off x="704850" y="3848100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83569" lnSpcReduction="10000"/>
          </a:bodyPr>
          <a:lstStyle/>
          <a:p>
            <a:pPr algn="l">
              <a:defRPr sz="2100" b="1">
                <a:solidFill>
                  <a:srgbClr val="F8FAFC"/>
                </a:solidFill>
              </a:defRPr>
            </a:pPr>
            <a:r>
              <a:rPr sz="2100" b="1">
                <a:solidFill>
                  <a:srgbClr val="F8FAFC"/>
                </a:solidFill>
              </a:rPr>
              <a:t>AI Waste Analysis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D3FB92-0505-438A-A427-92A35EBDD0C0}"/>
              </a:ext>
            </a:extLst>
          </p:cNvPr>
          <p:cNvSpPr>
            <a:spLocks noGrp="1"/>
          </p:cNvSpPr>
          <p:nvPr/>
        </p:nvSpPr>
        <p:spPr>
          <a:xfrm>
            <a:off x="704850" y="4267200"/>
            <a:ext cx="2286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77717" lnSpcReduction="10000"/>
          </a:bodyPr>
          <a:lstStyle/>
          <a:p>
            <a:pPr algn="l">
              <a:defRPr sz="1050" b="0">
                <a:solidFill>
                  <a:srgbClr val="B9C1D3"/>
                </a:solidFill>
              </a:defRPr>
            </a:pPr>
            <a:r>
              <a:rPr sz="1050" b="0">
                <a:solidFill>
                  <a:srgbClr val="B9C1D3"/>
                </a:solidFill>
              </a:rPr>
              <a:t>Accepts image input, predicts category and confidence, then saves the result.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C653CB9-DE9C-4D6B-A7E2-E05066B05407}"/>
              </a:ext>
            </a:extLst>
          </p:cNvPr>
          <p:cNvSpPr>
            <a:spLocks noGrp="1"/>
          </p:cNvSpPr>
          <p:nvPr/>
        </p:nvSpPr>
        <p:spPr>
          <a:xfrm>
            <a:off x="3333750" y="3390900"/>
            <a:ext cx="2590800" cy="1371600"/>
          </a:xfrm>
          <a:prstGeom prst="roundRect">
            <a:avLst>
              <a:gd name="adj" fmla="val 5556"/>
            </a:avLst>
          </a:prstGeom>
          <a:solidFill>
            <a:srgbClr val="1A2438"/>
          </a:solidFill>
          <a:ln w="10478">
            <a:solidFill>
              <a:srgbClr val="31415E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6B9C9C2-7186-4F13-ACFE-52D588D48EF4}"/>
              </a:ext>
            </a:extLst>
          </p:cNvPr>
          <p:cNvSpPr>
            <a:spLocks noGrp="1"/>
          </p:cNvSpPr>
          <p:nvPr/>
        </p:nvSpPr>
        <p:spPr>
          <a:xfrm>
            <a:off x="3333750" y="3390900"/>
            <a:ext cx="2590800" cy="57150"/>
          </a:xfrm>
          <a:prstGeom prst="rect">
            <a:avLst/>
          </a:prstGeom>
          <a:solidFill>
            <a:srgbClr val="41B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8B76263-3E86-4634-892D-A75C6C10392D}"/>
              </a:ext>
            </a:extLst>
          </p:cNvPr>
          <p:cNvSpPr>
            <a:spLocks noGrp="1"/>
          </p:cNvSpPr>
          <p:nvPr/>
        </p:nvSpPr>
        <p:spPr>
          <a:xfrm>
            <a:off x="3486150" y="35242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51191" lnSpcReduction="10000"/>
          </a:bodyPr>
          <a:lstStyle/>
          <a:p>
            <a:pPr algn="l">
              <a:defRPr sz="1125" b="1">
                <a:solidFill>
                  <a:srgbClr val="41B6E6"/>
                </a:solidFill>
              </a:defRPr>
            </a:pPr>
            <a:r>
              <a:rPr sz="1125" b="1">
                <a:solidFill>
                  <a:srgbClr val="41B6E6"/>
                </a:solidFill>
              </a:rPr>
              <a:t>Core Module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26614A-C900-470D-B79C-6BABEC0B511C}"/>
              </a:ext>
            </a:extLst>
          </p:cNvPr>
          <p:cNvSpPr>
            <a:spLocks noGrp="1"/>
          </p:cNvSpPr>
          <p:nvPr/>
        </p:nvSpPr>
        <p:spPr>
          <a:xfrm>
            <a:off x="3486150" y="3848100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83569" lnSpcReduction="10000"/>
          </a:bodyPr>
          <a:lstStyle/>
          <a:p>
            <a:pPr algn="l">
              <a:defRPr sz="2100" b="1">
                <a:solidFill>
                  <a:srgbClr val="F8FAFC"/>
                </a:solidFill>
              </a:defRPr>
            </a:pPr>
            <a:r>
              <a:rPr sz="2100" b="1">
                <a:solidFill>
                  <a:srgbClr val="F8FAFC"/>
                </a:solidFill>
              </a:rPr>
              <a:t>Task Dispatch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8778F5-A245-4C11-A34E-540F2716FE68}"/>
              </a:ext>
            </a:extLst>
          </p:cNvPr>
          <p:cNvSpPr>
            <a:spLocks noGrp="1"/>
          </p:cNvSpPr>
          <p:nvPr/>
        </p:nvSpPr>
        <p:spPr>
          <a:xfrm>
            <a:off x="3486150" y="4267200"/>
            <a:ext cx="2286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77717" lnSpcReduction="10000"/>
          </a:bodyPr>
          <a:lstStyle/>
          <a:p>
            <a:pPr algn="l">
              <a:defRPr sz="1050" b="0">
                <a:solidFill>
                  <a:srgbClr val="B9C1D3"/>
                </a:solidFill>
              </a:defRPr>
            </a:pPr>
            <a:r>
              <a:rPr sz="1050" b="0">
                <a:solidFill>
                  <a:srgbClr val="B9C1D3"/>
                </a:solidFill>
              </a:rPr>
              <a:t>Creates collection tasks with area, priority, location, and driver assignment data.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4BDD3BD-244C-4FAB-BF88-A5F7CB6900E2}"/>
              </a:ext>
            </a:extLst>
          </p:cNvPr>
          <p:cNvSpPr>
            <a:spLocks noGrp="1"/>
          </p:cNvSpPr>
          <p:nvPr/>
        </p:nvSpPr>
        <p:spPr>
          <a:xfrm>
            <a:off x="6115050" y="3390900"/>
            <a:ext cx="2590800" cy="1371600"/>
          </a:xfrm>
          <a:prstGeom prst="roundRect">
            <a:avLst>
              <a:gd name="adj" fmla="val 5556"/>
            </a:avLst>
          </a:prstGeom>
          <a:solidFill>
            <a:srgbClr val="1A2438"/>
          </a:solidFill>
          <a:ln w="10478">
            <a:solidFill>
              <a:srgbClr val="31415E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4AA61F-690A-4FD0-92EC-3C00559B4BD1}"/>
              </a:ext>
            </a:extLst>
          </p:cNvPr>
          <p:cNvSpPr>
            <a:spLocks noGrp="1"/>
          </p:cNvSpPr>
          <p:nvPr/>
        </p:nvSpPr>
        <p:spPr>
          <a:xfrm>
            <a:off x="6115050" y="3390900"/>
            <a:ext cx="2590800" cy="57150"/>
          </a:xfrm>
          <a:prstGeom prst="rect">
            <a:avLst/>
          </a:prstGeom>
          <a:solidFill>
            <a:srgbClr val="EF5B6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1A2F253-CB96-4536-840B-4F5B47329B57}"/>
              </a:ext>
            </a:extLst>
          </p:cNvPr>
          <p:cNvSpPr>
            <a:spLocks noGrp="1"/>
          </p:cNvSpPr>
          <p:nvPr/>
        </p:nvSpPr>
        <p:spPr>
          <a:xfrm>
            <a:off x="6267450" y="35242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51191" lnSpcReduction="10000"/>
          </a:bodyPr>
          <a:lstStyle/>
          <a:p>
            <a:pPr algn="l">
              <a:defRPr sz="1125" b="1">
                <a:solidFill>
                  <a:srgbClr val="EF5B6C"/>
                </a:solidFill>
              </a:defRPr>
            </a:pPr>
            <a:r>
              <a:rPr sz="1125" b="1">
                <a:solidFill>
                  <a:srgbClr val="EF5B6C"/>
                </a:solidFill>
              </a:rPr>
              <a:t>Core Module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A52849A-1136-494B-BF29-EBF23B717B8C}"/>
              </a:ext>
            </a:extLst>
          </p:cNvPr>
          <p:cNvSpPr>
            <a:spLocks noGrp="1"/>
          </p:cNvSpPr>
          <p:nvPr/>
        </p:nvSpPr>
        <p:spPr>
          <a:xfrm>
            <a:off x="6267450" y="3848100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83569" lnSpcReduction="10000"/>
          </a:bodyPr>
          <a:lstStyle/>
          <a:p>
            <a:pPr algn="l">
              <a:defRPr sz="2100" b="1">
                <a:solidFill>
                  <a:srgbClr val="F8FAFC"/>
                </a:solidFill>
              </a:defRPr>
            </a:pPr>
            <a:r>
              <a:rPr sz="2100" b="1">
                <a:solidFill>
                  <a:srgbClr val="F8FAFC"/>
                </a:solidFill>
              </a:rPr>
              <a:t>Complaint Tracking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1AE4817-1906-4186-AD39-1D8E7F791A0B}"/>
              </a:ext>
            </a:extLst>
          </p:cNvPr>
          <p:cNvSpPr>
            <a:spLocks noGrp="1"/>
          </p:cNvSpPr>
          <p:nvPr/>
        </p:nvSpPr>
        <p:spPr>
          <a:xfrm>
            <a:off x="6267450" y="4267200"/>
            <a:ext cx="2286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77717" lnSpcReduction="10000"/>
          </a:bodyPr>
          <a:lstStyle/>
          <a:p>
            <a:pPr algn="l">
              <a:defRPr sz="1050" b="0">
                <a:solidFill>
                  <a:srgbClr val="B9C1D3"/>
                </a:solidFill>
              </a:defRPr>
            </a:pPr>
            <a:r>
              <a:rPr sz="1050" b="0">
                <a:solidFill>
                  <a:srgbClr val="B9C1D3"/>
                </a:solidFill>
              </a:rPr>
              <a:t>Citizens can file issues and administrators can update status and replies.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567E4C0-F230-40BE-958B-E7115D565367}"/>
              </a:ext>
            </a:extLst>
          </p:cNvPr>
          <p:cNvSpPr>
            <a:spLocks noGrp="1"/>
          </p:cNvSpPr>
          <p:nvPr/>
        </p:nvSpPr>
        <p:spPr>
          <a:xfrm>
            <a:off x="8896350" y="3390900"/>
            <a:ext cx="2743200" cy="1371600"/>
          </a:xfrm>
          <a:prstGeom prst="roundRect">
            <a:avLst>
              <a:gd name="adj" fmla="val 5556"/>
            </a:avLst>
          </a:prstGeom>
          <a:solidFill>
            <a:srgbClr val="1A2438"/>
          </a:solidFill>
          <a:ln w="10478">
            <a:solidFill>
              <a:srgbClr val="31415E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5EE82F2-F166-4F7D-BFD7-E8131A91F667}"/>
              </a:ext>
            </a:extLst>
          </p:cNvPr>
          <p:cNvSpPr>
            <a:spLocks noGrp="1"/>
          </p:cNvSpPr>
          <p:nvPr/>
        </p:nvSpPr>
        <p:spPr>
          <a:xfrm>
            <a:off x="8896350" y="3390900"/>
            <a:ext cx="2743200" cy="57150"/>
          </a:xfrm>
          <a:prstGeom prst="rect">
            <a:avLst/>
          </a:prstGeom>
          <a:solidFill>
            <a:srgbClr val="F5B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D5D105D-E3D8-478B-B523-DE3D77D8A695}"/>
              </a:ext>
            </a:extLst>
          </p:cNvPr>
          <p:cNvSpPr>
            <a:spLocks noGrp="1"/>
          </p:cNvSpPr>
          <p:nvPr/>
        </p:nvSpPr>
        <p:spPr>
          <a:xfrm>
            <a:off x="9048750" y="3524250"/>
            <a:ext cx="2438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51191" lnSpcReduction="10000"/>
          </a:bodyPr>
          <a:lstStyle/>
          <a:p>
            <a:pPr algn="l">
              <a:defRPr sz="1125" b="1">
                <a:solidFill>
                  <a:srgbClr val="F5B942"/>
                </a:solidFill>
              </a:defRPr>
            </a:pPr>
            <a:r>
              <a:rPr sz="1125" b="1">
                <a:solidFill>
                  <a:srgbClr val="F5B942"/>
                </a:solidFill>
              </a:rPr>
              <a:t>Core Module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DA045B3-E67E-40F5-A3A3-862A3EB12557}"/>
              </a:ext>
            </a:extLst>
          </p:cNvPr>
          <p:cNvSpPr>
            <a:spLocks noGrp="1"/>
          </p:cNvSpPr>
          <p:nvPr/>
        </p:nvSpPr>
        <p:spPr>
          <a:xfrm>
            <a:off x="9048750" y="3848100"/>
            <a:ext cx="2438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83569" lnSpcReduction="10000"/>
          </a:bodyPr>
          <a:lstStyle/>
          <a:p>
            <a:pPr algn="l">
              <a:defRPr sz="2100" b="1">
                <a:solidFill>
                  <a:srgbClr val="F8FAFC"/>
                </a:solidFill>
              </a:defRPr>
            </a:pPr>
            <a:r>
              <a:rPr sz="2100" b="1">
                <a:solidFill>
                  <a:srgbClr val="F8FAFC"/>
                </a:solidFill>
              </a:rPr>
              <a:t>Route Support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F15A20-FB0E-4F03-92CA-8F9BB75DCBB4}"/>
              </a:ext>
            </a:extLst>
          </p:cNvPr>
          <p:cNvSpPr>
            <a:spLocks noGrp="1"/>
          </p:cNvSpPr>
          <p:nvPr/>
        </p:nvSpPr>
        <p:spPr>
          <a:xfrm>
            <a:off x="9048750" y="4267200"/>
            <a:ext cx="2438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77717" lnSpcReduction="10000"/>
          </a:bodyPr>
          <a:lstStyle/>
          <a:p>
            <a:pPr algn="l">
              <a:defRPr sz="1050" b="0">
                <a:solidFill>
                  <a:srgbClr val="B9C1D3"/>
                </a:solidFill>
              </a:defRPr>
            </a:pPr>
            <a:r>
              <a:rPr sz="1050" b="0">
                <a:solidFill>
                  <a:srgbClr val="B9C1D3"/>
                </a:solidFill>
              </a:rPr>
              <a:t>AI grouping plus OSRM routing helps assign trips for active drivers.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7624863-5141-43A5-AB4F-A5F20A730D13}"/>
              </a:ext>
            </a:extLst>
          </p:cNvPr>
          <p:cNvSpPr>
            <a:spLocks noGrp="1"/>
          </p:cNvSpPr>
          <p:nvPr/>
        </p:nvSpPr>
        <p:spPr>
          <a:xfrm>
            <a:off x="552450" y="5029200"/>
            <a:ext cx="11087100" cy="1238250"/>
          </a:xfrm>
          <a:prstGeom prst="roundRect">
            <a:avLst>
              <a:gd name="adj" fmla="val 6154"/>
            </a:avLst>
          </a:prstGeom>
          <a:solidFill>
            <a:srgbClr val="1A2438"/>
          </a:solidFill>
          <a:ln w="11430">
            <a:solidFill>
              <a:srgbClr val="31415E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633FB34-CFD1-480F-B8AB-2FA826276334}"/>
              </a:ext>
            </a:extLst>
          </p:cNvPr>
          <p:cNvSpPr>
            <a:spLocks noGrp="1"/>
          </p:cNvSpPr>
          <p:nvPr/>
        </p:nvSpPr>
        <p:spPr>
          <a:xfrm>
            <a:off x="552450" y="5029200"/>
            <a:ext cx="76200" cy="1238250"/>
          </a:xfrm>
          <a:prstGeom prst="rect">
            <a:avLst/>
          </a:prstGeom>
          <a:solidFill>
            <a:srgbClr val="1FC1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8055250-481C-4E86-A763-23A8928AE808}"/>
              </a:ext>
            </a:extLst>
          </p:cNvPr>
          <p:cNvSpPr>
            <a:spLocks noGrp="1"/>
          </p:cNvSpPr>
          <p:nvPr/>
        </p:nvSpPr>
        <p:spPr>
          <a:xfrm>
            <a:off x="762000" y="5200650"/>
            <a:ext cx="10782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56652" lnSpcReduction="10000"/>
          </a:bodyPr>
          <a:lstStyle/>
          <a:p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Why This Project Matters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568FFAA-BCC1-4274-AA9E-785782133D5B}"/>
              </a:ext>
            </a:extLst>
          </p:cNvPr>
          <p:cNvSpPr>
            <a:spLocks noGrp="1"/>
          </p:cNvSpPr>
          <p:nvPr/>
        </p:nvSpPr>
        <p:spPr>
          <a:xfrm>
            <a:off x="781050" y="5581650"/>
            <a:ext cx="10706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71680" lnSpcReduction="10000"/>
          </a:bodyPr>
          <a:lstStyle/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Improves visibility of waste operations through a central dashboard.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Encourages faster issue resolution through complaint and task workflows.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Demonstrates practical AI integration inside a full-stack application.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17FACAB-3BBC-4772-AF6F-1A8F0FC942AC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1104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29684" lnSpcReduction="20000"/>
          </a:bodyPr>
          <a:lstStyle/>
          <a:p>
            <a:pPr algn="l">
              <a:defRPr sz="825" b="0">
                <a:solidFill>
                  <a:srgbClr val="A8B2C7"/>
                </a:solidFill>
              </a:defRPr>
            </a:pPr>
            <a:endParaRPr lang="en-IN" sz="825" dirty="0">
              <a:solidFill>
                <a:srgbClr val="A8B2C7"/>
              </a:solidFill>
            </a:endParaRPr>
          </a:p>
          <a:p>
            <a:pPr algn="l">
              <a:defRPr sz="825" b="0">
                <a:solidFill>
                  <a:srgbClr val="A8B2C7"/>
                </a:solidFill>
              </a:defRPr>
            </a:pPr>
            <a:r>
              <a:rPr sz="825" b="0" dirty="0">
                <a:solidFill>
                  <a:srgbClr val="A8B2C7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40633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8CB5A5BE-3F39-457D-A3A8-86F73ACE639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E9322D-506C-4989-B8E0-D3191670472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EDA290-7401-4A10-8D34-76C39E449B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424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DD2961-9755-4447-AEC8-E9C181325A7C}"/>
              </a:ext>
            </a:extLst>
          </p:cNvPr>
          <p:cNvSpPr>
            <a:spLocks noGrp="1"/>
          </p:cNvSpPr>
          <p:nvPr/>
        </p:nvSpPr>
        <p:spPr>
          <a:xfrm>
            <a:off x="552450" y="171450"/>
            <a:ext cx="8001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95721" lnSpcReduction="10000"/>
          </a:bodyPr>
          <a:lstStyle/>
          <a:p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Project Objectives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26B5DB-9C20-4353-A589-F2A74B6E599E}"/>
              </a:ext>
            </a:extLst>
          </p:cNvPr>
          <p:cNvSpPr>
            <a:spLocks noGrp="1"/>
          </p:cNvSpPr>
          <p:nvPr/>
        </p:nvSpPr>
        <p:spPr>
          <a:xfrm>
            <a:off x="10382250" y="20955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81920" lnSpcReduction="10000"/>
          </a:bodyPr>
          <a:lstStyle/>
          <a:p>
            <a:pPr algn="r">
              <a:defRPr sz="1050" b="1">
                <a:solidFill>
                  <a:srgbClr val="1FC18A"/>
                </a:solidFill>
              </a:defRPr>
            </a:pPr>
            <a:r>
              <a:rPr sz="1050" b="1">
                <a:solidFill>
                  <a:srgbClr val="1FC18A"/>
                </a:solidFill>
              </a:rPr>
              <a:t>Slide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0E76BF-FE9E-47B1-999A-1FB18276F188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1087100" cy="19050"/>
          </a:xfrm>
          <a:prstGeom prst="rect">
            <a:avLst/>
          </a:prstGeom>
          <a:solidFill>
            <a:srgbClr val="1FC1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E7B36C1-F7AF-4DDB-9C9F-989A3A6D5F45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5334000" cy="1143000"/>
          </a:xfrm>
          <a:prstGeom prst="roundRect">
            <a:avLst>
              <a:gd name="adj" fmla="val 6667"/>
            </a:avLst>
          </a:prstGeom>
          <a:solidFill>
            <a:srgbClr val="1A2438"/>
          </a:solidFill>
          <a:ln w="11430">
            <a:solidFill>
              <a:srgbClr val="31415E"/>
            </a:solidFill>
            <a:prstDash val="solid"/>
          </a:ln>
        </p:spPr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B4A60E6-EBE4-4E00-8D7E-BEADD82BEFF2}"/>
              </a:ext>
            </a:extLst>
          </p:cNvPr>
          <p:cNvSpPr>
            <a:spLocks noGrp="1"/>
          </p:cNvSpPr>
          <p:nvPr/>
        </p:nvSpPr>
        <p:spPr>
          <a:xfrm>
            <a:off x="723900" y="1314450"/>
            <a:ext cx="704850" cy="495300"/>
          </a:xfrm>
          <a:prstGeom prst="roundRect">
            <a:avLst>
              <a:gd name="adj" fmla="val 15385"/>
            </a:avLst>
          </a:prstGeom>
          <a:solidFill>
            <a:srgbClr val="112A2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ctr">
            <a:normAutofit lnSpcReduction="10000"/>
          </a:bodyPr>
          <a:lstStyle/>
          <a:p>
            <a:pPr algn="ctr">
              <a:defRPr sz="2100" b="1">
                <a:solidFill>
                  <a:srgbClr val="1FC18A"/>
                </a:solidFill>
              </a:defRPr>
            </a:pPr>
            <a:r>
              <a:rPr sz="2100" b="1">
                <a:solidFill>
                  <a:srgbClr val="1FC18A"/>
                </a:solidFill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8EE4A4-0CA7-49D5-92A5-E07320AB5F42}"/>
              </a:ext>
            </a:extLst>
          </p:cNvPr>
          <p:cNvSpPr>
            <a:spLocks noGrp="1"/>
          </p:cNvSpPr>
          <p:nvPr/>
        </p:nvSpPr>
        <p:spPr>
          <a:xfrm>
            <a:off x="1543050" y="1314450"/>
            <a:ext cx="40957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/>
          </a:bodyPr>
          <a:lstStyle/>
          <a:p>
            <a:pPr algn="l">
              <a:defRPr sz="1350" b="0">
                <a:solidFill>
                  <a:srgbClr val="B9C1D3"/>
                </a:solidFill>
              </a:defRPr>
            </a:pPr>
            <a:r>
              <a:rPr sz="1350" b="0">
                <a:solidFill>
                  <a:srgbClr val="B9C1D3"/>
                </a:solidFill>
              </a:rPr>
              <a:t>Classify waste images with AI and store waste categories for reporting.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EAC19D4-D218-4F5D-AA39-5C3CFA6BD7A9}"/>
              </a:ext>
            </a:extLst>
          </p:cNvPr>
          <p:cNvSpPr>
            <a:spLocks noGrp="1"/>
          </p:cNvSpPr>
          <p:nvPr/>
        </p:nvSpPr>
        <p:spPr>
          <a:xfrm>
            <a:off x="6076950" y="1143000"/>
            <a:ext cx="5334000" cy="1143000"/>
          </a:xfrm>
          <a:prstGeom prst="roundRect">
            <a:avLst>
              <a:gd name="adj" fmla="val 6667"/>
            </a:avLst>
          </a:prstGeom>
          <a:solidFill>
            <a:srgbClr val="1A2438"/>
          </a:solidFill>
          <a:ln w="11430">
            <a:solidFill>
              <a:srgbClr val="31415E"/>
            </a:solidFill>
            <a:prstDash val="solid"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23A2775-172E-4DC2-BC26-1686CFAE431D}"/>
              </a:ext>
            </a:extLst>
          </p:cNvPr>
          <p:cNvSpPr>
            <a:spLocks noGrp="1"/>
          </p:cNvSpPr>
          <p:nvPr/>
        </p:nvSpPr>
        <p:spPr>
          <a:xfrm>
            <a:off x="6248400" y="1314450"/>
            <a:ext cx="704850" cy="495300"/>
          </a:xfrm>
          <a:prstGeom prst="roundRect">
            <a:avLst>
              <a:gd name="adj" fmla="val 15385"/>
            </a:avLst>
          </a:prstGeom>
          <a:solidFill>
            <a:srgbClr val="112A2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ctr">
            <a:normAutofit lnSpcReduction="10000"/>
          </a:bodyPr>
          <a:lstStyle/>
          <a:p>
            <a:pPr algn="ctr">
              <a:defRPr sz="2100" b="1">
                <a:solidFill>
                  <a:srgbClr val="41B6E6"/>
                </a:solidFill>
              </a:defRPr>
            </a:pPr>
            <a:r>
              <a:rPr sz="2100" b="1">
                <a:solidFill>
                  <a:srgbClr val="41B6E6"/>
                </a:solidFill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6E0E48-28A1-43A5-9340-7DD7C7C2129C}"/>
              </a:ext>
            </a:extLst>
          </p:cNvPr>
          <p:cNvSpPr>
            <a:spLocks noGrp="1"/>
          </p:cNvSpPr>
          <p:nvPr/>
        </p:nvSpPr>
        <p:spPr>
          <a:xfrm>
            <a:off x="7067550" y="1314450"/>
            <a:ext cx="40957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/>
          </a:bodyPr>
          <a:lstStyle/>
          <a:p>
            <a:pPr algn="l">
              <a:defRPr sz="1350" b="0">
                <a:solidFill>
                  <a:srgbClr val="B9C1D3"/>
                </a:solidFill>
              </a:defRPr>
            </a:pPr>
            <a:r>
              <a:rPr sz="1350" b="0">
                <a:solidFill>
                  <a:srgbClr val="B9C1D3"/>
                </a:solidFill>
              </a:rPr>
              <a:t>Digitize waste operations using tasks, routes, complaints, and analytics.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2078D50-6364-41C6-878B-CE0F44BF5E9D}"/>
              </a:ext>
            </a:extLst>
          </p:cNvPr>
          <p:cNvSpPr>
            <a:spLocks noGrp="1"/>
          </p:cNvSpPr>
          <p:nvPr/>
        </p:nvSpPr>
        <p:spPr>
          <a:xfrm>
            <a:off x="552450" y="2495550"/>
            <a:ext cx="5334000" cy="1143000"/>
          </a:xfrm>
          <a:prstGeom prst="roundRect">
            <a:avLst>
              <a:gd name="adj" fmla="val 6667"/>
            </a:avLst>
          </a:prstGeom>
          <a:solidFill>
            <a:srgbClr val="1A2438"/>
          </a:solidFill>
          <a:ln w="11430">
            <a:solidFill>
              <a:srgbClr val="31415E"/>
            </a:solidFill>
            <a:prstDash val="solid"/>
          </a:ln>
        </p:spPr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CECBBF8-75D3-4BE7-B67C-3FC698D1CF13}"/>
              </a:ext>
            </a:extLst>
          </p:cNvPr>
          <p:cNvSpPr>
            <a:spLocks noGrp="1"/>
          </p:cNvSpPr>
          <p:nvPr/>
        </p:nvSpPr>
        <p:spPr>
          <a:xfrm>
            <a:off x="723900" y="2667000"/>
            <a:ext cx="704850" cy="495300"/>
          </a:xfrm>
          <a:prstGeom prst="roundRect">
            <a:avLst>
              <a:gd name="adj" fmla="val 15385"/>
            </a:avLst>
          </a:prstGeom>
          <a:solidFill>
            <a:srgbClr val="112A2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ctr">
            <a:normAutofit lnSpcReduction="10000"/>
          </a:bodyPr>
          <a:lstStyle/>
          <a:p>
            <a:pPr algn="ctr">
              <a:defRPr sz="2100" b="1">
                <a:solidFill>
                  <a:srgbClr val="1FC18A"/>
                </a:solidFill>
              </a:defRPr>
            </a:pPr>
            <a:r>
              <a:rPr sz="2100" b="1">
                <a:solidFill>
                  <a:srgbClr val="1FC18A"/>
                </a:solidFill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41BDE7-CA7C-44F3-AF1D-20733D02E040}"/>
              </a:ext>
            </a:extLst>
          </p:cNvPr>
          <p:cNvSpPr>
            <a:spLocks noGrp="1"/>
          </p:cNvSpPr>
          <p:nvPr/>
        </p:nvSpPr>
        <p:spPr>
          <a:xfrm>
            <a:off x="1543050" y="2667000"/>
            <a:ext cx="40957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/>
          </a:bodyPr>
          <a:lstStyle/>
          <a:p>
            <a:pPr algn="l">
              <a:defRPr sz="1350" b="0">
                <a:solidFill>
                  <a:srgbClr val="B9C1D3"/>
                </a:solidFill>
              </a:defRPr>
            </a:pPr>
            <a:r>
              <a:rPr sz="1350" b="0">
                <a:solidFill>
                  <a:srgbClr val="B9C1D3"/>
                </a:solidFill>
              </a:rPr>
              <a:t>Support administrators and drivers with real-time operational visibility.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4077022-AFC2-49E2-83A4-CB1968B76C0A}"/>
              </a:ext>
            </a:extLst>
          </p:cNvPr>
          <p:cNvSpPr>
            <a:spLocks noGrp="1"/>
          </p:cNvSpPr>
          <p:nvPr/>
        </p:nvSpPr>
        <p:spPr>
          <a:xfrm>
            <a:off x="6076950" y="2495550"/>
            <a:ext cx="5334000" cy="1143000"/>
          </a:xfrm>
          <a:prstGeom prst="roundRect">
            <a:avLst>
              <a:gd name="adj" fmla="val 6667"/>
            </a:avLst>
          </a:prstGeom>
          <a:solidFill>
            <a:srgbClr val="1A2438"/>
          </a:solidFill>
          <a:ln w="11430">
            <a:solidFill>
              <a:srgbClr val="31415E"/>
            </a:solidFill>
            <a:prstDash val="solid"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7FC6C37-1016-40C9-84F2-5D7192E3D794}"/>
              </a:ext>
            </a:extLst>
          </p:cNvPr>
          <p:cNvSpPr>
            <a:spLocks noGrp="1"/>
          </p:cNvSpPr>
          <p:nvPr/>
        </p:nvSpPr>
        <p:spPr>
          <a:xfrm>
            <a:off x="6248400" y="2667000"/>
            <a:ext cx="704850" cy="495300"/>
          </a:xfrm>
          <a:prstGeom prst="roundRect">
            <a:avLst>
              <a:gd name="adj" fmla="val 15385"/>
            </a:avLst>
          </a:prstGeom>
          <a:solidFill>
            <a:srgbClr val="112A2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ctr">
            <a:normAutofit lnSpcReduction="10000"/>
          </a:bodyPr>
          <a:lstStyle/>
          <a:p>
            <a:pPr algn="ctr">
              <a:defRPr sz="2100" b="1">
                <a:solidFill>
                  <a:srgbClr val="41B6E6"/>
                </a:solidFill>
              </a:defRPr>
            </a:pPr>
            <a:r>
              <a:rPr sz="2100" b="1">
                <a:solidFill>
                  <a:srgbClr val="41B6E6"/>
                </a:solidFill>
              </a:rPr>
              <a:t>04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578D7B5-C1C2-4869-8482-137288F11EC4}"/>
              </a:ext>
            </a:extLst>
          </p:cNvPr>
          <p:cNvSpPr>
            <a:spLocks noGrp="1"/>
          </p:cNvSpPr>
          <p:nvPr/>
        </p:nvSpPr>
        <p:spPr>
          <a:xfrm>
            <a:off x="7067550" y="2667000"/>
            <a:ext cx="40957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/>
          </a:bodyPr>
          <a:lstStyle/>
          <a:p>
            <a:pPr algn="l">
              <a:defRPr sz="1350" b="0">
                <a:solidFill>
                  <a:srgbClr val="B9C1D3"/>
                </a:solidFill>
              </a:defRPr>
            </a:pPr>
            <a:r>
              <a:rPr sz="1350" b="0">
                <a:solidFill>
                  <a:srgbClr val="B9C1D3"/>
                </a:solidFill>
              </a:rPr>
              <a:t>Improve route planning using AI-based allocation and OSRM map routing.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5E89951-0752-4A93-9DDE-E12F9FA9E632}"/>
              </a:ext>
            </a:extLst>
          </p:cNvPr>
          <p:cNvSpPr>
            <a:spLocks noGrp="1"/>
          </p:cNvSpPr>
          <p:nvPr/>
        </p:nvSpPr>
        <p:spPr>
          <a:xfrm>
            <a:off x="552450" y="3848100"/>
            <a:ext cx="5334000" cy="1143000"/>
          </a:xfrm>
          <a:prstGeom prst="roundRect">
            <a:avLst>
              <a:gd name="adj" fmla="val 6667"/>
            </a:avLst>
          </a:prstGeom>
          <a:solidFill>
            <a:srgbClr val="1A2438"/>
          </a:solidFill>
          <a:ln w="11430">
            <a:solidFill>
              <a:srgbClr val="31415E"/>
            </a:solidFill>
            <a:prstDash val="solid"/>
          </a:ln>
        </p:spPr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7FE0544-1E4E-4B02-BB88-03170286AAAB}"/>
              </a:ext>
            </a:extLst>
          </p:cNvPr>
          <p:cNvSpPr>
            <a:spLocks noGrp="1"/>
          </p:cNvSpPr>
          <p:nvPr/>
        </p:nvSpPr>
        <p:spPr>
          <a:xfrm>
            <a:off x="723900" y="4019550"/>
            <a:ext cx="704850" cy="495300"/>
          </a:xfrm>
          <a:prstGeom prst="roundRect">
            <a:avLst>
              <a:gd name="adj" fmla="val 15385"/>
            </a:avLst>
          </a:prstGeom>
          <a:solidFill>
            <a:srgbClr val="112A2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ctr">
            <a:normAutofit lnSpcReduction="10000"/>
          </a:bodyPr>
          <a:lstStyle/>
          <a:p>
            <a:pPr algn="ctr">
              <a:defRPr sz="2100" b="1">
                <a:solidFill>
                  <a:srgbClr val="1FC18A"/>
                </a:solidFill>
              </a:defRPr>
            </a:pPr>
            <a:r>
              <a:rPr sz="2100" b="1">
                <a:solidFill>
                  <a:srgbClr val="1FC18A"/>
                </a:solidFill>
              </a:rPr>
              <a:t>05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F4ABE01-37CE-4D5F-AC5B-8893E038767A}"/>
              </a:ext>
            </a:extLst>
          </p:cNvPr>
          <p:cNvSpPr>
            <a:spLocks noGrp="1"/>
          </p:cNvSpPr>
          <p:nvPr/>
        </p:nvSpPr>
        <p:spPr>
          <a:xfrm>
            <a:off x="1543050" y="4019550"/>
            <a:ext cx="40957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/>
          </a:bodyPr>
          <a:lstStyle/>
          <a:p>
            <a:pPr algn="l">
              <a:defRPr sz="1350" b="0">
                <a:solidFill>
                  <a:srgbClr val="B9C1D3"/>
                </a:solidFill>
              </a:defRPr>
            </a:pPr>
            <a:r>
              <a:rPr sz="1350" b="0">
                <a:solidFill>
                  <a:srgbClr val="B9C1D3"/>
                </a:solidFill>
              </a:rPr>
              <a:t>Provide a clean front-end experience for login, analytics, and task handling.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6820DD3-22D0-497B-83E1-BAAEF785D45C}"/>
              </a:ext>
            </a:extLst>
          </p:cNvPr>
          <p:cNvSpPr>
            <a:spLocks noGrp="1"/>
          </p:cNvSpPr>
          <p:nvPr/>
        </p:nvSpPr>
        <p:spPr>
          <a:xfrm>
            <a:off x="6076950" y="3848100"/>
            <a:ext cx="5334000" cy="1143000"/>
          </a:xfrm>
          <a:prstGeom prst="roundRect">
            <a:avLst>
              <a:gd name="adj" fmla="val 6667"/>
            </a:avLst>
          </a:prstGeom>
          <a:solidFill>
            <a:srgbClr val="1A2438"/>
          </a:solidFill>
          <a:ln w="11430">
            <a:solidFill>
              <a:srgbClr val="31415E"/>
            </a:solidFill>
            <a:prstDash val="solid"/>
          </a:ln>
        </p:spPr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3B4D14C-4A89-41C8-9690-4EEE06FD879D}"/>
              </a:ext>
            </a:extLst>
          </p:cNvPr>
          <p:cNvSpPr>
            <a:spLocks noGrp="1"/>
          </p:cNvSpPr>
          <p:nvPr/>
        </p:nvSpPr>
        <p:spPr>
          <a:xfrm>
            <a:off x="6248400" y="4019550"/>
            <a:ext cx="704850" cy="495300"/>
          </a:xfrm>
          <a:prstGeom prst="roundRect">
            <a:avLst>
              <a:gd name="adj" fmla="val 15385"/>
            </a:avLst>
          </a:prstGeom>
          <a:solidFill>
            <a:srgbClr val="112A2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ctr">
            <a:normAutofit lnSpcReduction="10000"/>
          </a:bodyPr>
          <a:lstStyle/>
          <a:p>
            <a:pPr algn="ctr">
              <a:defRPr sz="2100" b="1">
                <a:solidFill>
                  <a:srgbClr val="41B6E6"/>
                </a:solidFill>
              </a:defRPr>
            </a:pPr>
            <a:r>
              <a:rPr sz="2100" b="1">
                <a:solidFill>
                  <a:srgbClr val="41B6E6"/>
                </a:solidFill>
              </a:rPr>
              <a:t>06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06A99C8-A3D3-4BE2-8841-A49BF76B5982}"/>
              </a:ext>
            </a:extLst>
          </p:cNvPr>
          <p:cNvSpPr>
            <a:spLocks noGrp="1"/>
          </p:cNvSpPr>
          <p:nvPr/>
        </p:nvSpPr>
        <p:spPr>
          <a:xfrm>
            <a:off x="7067550" y="4019550"/>
            <a:ext cx="40957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/>
          </a:bodyPr>
          <a:lstStyle/>
          <a:p>
            <a:pPr algn="l">
              <a:defRPr sz="1350" b="0">
                <a:solidFill>
                  <a:srgbClr val="B9C1D3"/>
                </a:solidFill>
              </a:defRPr>
            </a:pPr>
            <a:r>
              <a:rPr sz="1350" b="0">
                <a:solidFill>
                  <a:srgbClr val="B9C1D3"/>
                </a:solidFill>
              </a:rPr>
              <a:t>Show how AI-assisted coding can speed up project development and feature creation.</a:t>
            </a:r>
          </a:p>
        </p:txBody>
      </p:sp>
    </p:spTree>
    <p:extLst>
      <p:ext uri="{BB962C8B-B14F-4D97-AF65-F5344CB8AC3E}">
        <p14:creationId xmlns:p14="http://schemas.microsoft.com/office/powerpoint/2010/main" val="1279995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8CB5A5BE-3F39-457D-A3A8-86F73ACE639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27E3D9-D04F-432E-8614-440BC8C489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05C89D-63BA-4BD3-A36E-4DD5BD25F6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424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288CA2-0B93-4EDB-87E0-78222EA077F4}"/>
              </a:ext>
            </a:extLst>
          </p:cNvPr>
          <p:cNvSpPr>
            <a:spLocks noGrp="1"/>
          </p:cNvSpPr>
          <p:nvPr/>
        </p:nvSpPr>
        <p:spPr>
          <a:xfrm>
            <a:off x="552450" y="171450"/>
            <a:ext cx="8001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95721" lnSpcReduction="10000"/>
          </a:bodyPr>
          <a:lstStyle/>
          <a:p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Stakeholders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172845-F3DC-453B-AE6D-CE3959F6901D}"/>
              </a:ext>
            </a:extLst>
          </p:cNvPr>
          <p:cNvSpPr>
            <a:spLocks noGrp="1"/>
          </p:cNvSpPr>
          <p:nvPr/>
        </p:nvSpPr>
        <p:spPr>
          <a:xfrm>
            <a:off x="10382250" y="20955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81920" lnSpcReduction="10000"/>
          </a:bodyPr>
          <a:lstStyle/>
          <a:p>
            <a:pPr algn="r">
              <a:defRPr sz="1050" b="1">
                <a:solidFill>
                  <a:srgbClr val="1FC18A"/>
                </a:solidFill>
              </a:defRPr>
            </a:pPr>
            <a:r>
              <a:rPr sz="1050" b="1">
                <a:solidFill>
                  <a:srgbClr val="1FC18A"/>
                </a:solidFill>
              </a:rPr>
              <a:t>Slide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8E36B2-EC14-4073-A46B-03FD9A18ED7D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1087100" cy="19050"/>
          </a:xfrm>
          <a:prstGeom prst="rect">
            <a:avLst/>
          </a:prstGeom>
          <a:solidFill>
            <a:srgbClr val="1FC1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442CFFB-F87F-4328-8EAA-7B7907B6AE26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5334000" cy="2000250"/>
          </a:xfrm>
          <a:prstGeom prst="roundRect">
            <a:avLst>
              <a:gd name="adj" fmla="val 3810"/>
            </a:avLst>
          </a:prstGeom>
          <a:solidFill>
            <a:srgbClr val="1A2438"/>
          </a:solidFill>
          <a:ln w="11430">
            <a:solidFill>
              <a:srgbClr val="31415E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47F0FF-DE1D-40FA-B302-E2856C5728AD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76200" cy="2000250"/>
          </a:xfrm>
          <a:prstGeom prst="rect">
            <a:avLst/>
          </a:prstGeom>
          <a:solidFill>
            <a:srgbClr val="1FC1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8F3144-5F31-41B2-8F69-08680BC8E381}"/>
              </a:ext>
            </a:extLst>
          </p:cNvPr>
          <p:cNvSpPr>
            <a:spLocks noGrp="1"/>
          </p:cNvSpPr>
          <p:nvPr/>
        </p:nvSpPr>
        <p:spPr>
          <a:xfrm>
            <a:off x="762000" y="1371600"/>
            <a:ext cx="5029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56652" lnSpcReduction="10000"/>
          </a:bodyPr>
          <a:lstStyle/>
          <a:p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Citizens / Users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2E7916-57E9-4A48-A1BF-2AB559FB4E7E}"/>
              </a:ext>
            </a:extLst>
          </p:cNvPr>
          <p:cNvSpPr>
            <a:spLocks noGrp="1"/>
          </p:cNvSpPr>
          <p:nvPr/>
        </p:nvSpPr>
        <p:spPr>
          <a:xfrm>
            <a:off x="781050" y="1752600"/>
            <a:ext cx="4953000" cy="1314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/>
          </a:bodyPr>
          <a:lstStyle/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Log complaints about waste issues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Track platform activity and service response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Benefit from cleaner and faster waste handling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77E87C8-531B-4823-A010-093824C8FDF6}"/>
              </a:ext>
            </a:extLst>
          </p:cNvPr>
          <p:cNvSpPr>
            <a:spLocks noGrp="1"/>
          </p:cNvSpPr>
          <p:nvPr/>
        </p:nvSpPr>
        <p:spPr>
          <a:xfrm>
            <a:off x="6076950" y="1200150"/>
            <a:ext cx="5562600" cy="2000250"/>
          </a:xfrm>
          <a:prstGeom prst="roundRect">
            <a:avLst>
              <a:gd name="adj" fmla="val 3810"/>
            </a:avLst>
          </a:prstGeom>
          <a:solidFill>
            <a:srgbClr val="1A2438"/>
          </a:solidFill>
          <a:ln w="11430">
            <a:solidFill>
              <a:srgbClr val="31415E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3A8F9F-9D6B-4A2C-A447-AB1ADFBDFBBA}"/>
              </a:ext>
            </a:extLst>
          </p:cNvPr>
          <p:cNvSpPr>
            <a:spLocks noGrp="1"/>
          </p:cNvSpPr>
          <p:nvPr/>
        </p:nvSpPr>
        <p:spPr>
          <a:xfrm>
            <a:off x="6076950" y="1200150"/>
            <a:ext cx="76200" cy="2000250"/>
          </a:xfrm>
          <a:prstGeom prst="rect">
            <a:avLst/>
          </a:prstGeom>
          <a:solidFill>
            <a:srgbClr val="41B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F30B5B-3C08-425F-8F1C-B4EA4A16D94E}"/>
              </a:ext>
            </a:extLst>
          </p:cNvPr>
          <p:cNvSpPr>
            <a:spLocks noGrp="1"/>
          </p:cNvSpPr>
          <p:nvPr/>
        </p:nvSpPr>
        <p:spPr>
          <a:xfrm>
            <a:off x="6286500" y="1371600"/>
            <a:ext cx="5257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56652" lnSpcReduction="10000"/>
          </a:bodyPr>
          <a:lstStyle/>
          <a:p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Administrators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CB6201-1D8E-4685-A196-74D5BAF15441}"/>
              </a:ext>
            </a:extLst>
          </p:cNvPr>
          <p:cNvSpPr>
            <a:spLocks noGrp="1"/>
          </p:cNvSpPr>
          <p:nvPr/>
        </p:nvSpPr>
        <p:spPr>
          <a:xfrm>
            <a:off x="6305550" y="1752600"/>
            <a:ext cx="5181600" cy="1314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/>
          </a:bodyPr>
          <a:lstStyle/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Monitor dashboards and analytics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Create tasks and manage complaints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Review collection status and performance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2C9D720-B0E3-4C0F-86B7-52F6962E4EAA}"/>
              </a:ext>
            </a:extLst>
          </p:cNvPr>
          <p:cNvSpPr>
            <a:spLocks noGrp="1"/>
          </p:cNvSpPr>
          <p:nvPr/>
        </p:nvSpPr>
        <p:spPr>
          <a:xfrm>
            <a:off x="552450" y="3543300"/>
            <a:ext cx="5334000" cy="2000250"/>
          </a:xfrm>
          <a:prstGeom prst="roundRect">
            <a:avLst>
              <a:gd name="adj" fmla="val 3810"/>
            </a:avLst>
          </a:prstGeom>
          <a:solidFill>
            <a:srgbClr val="1A2438"/>
          </a:solidFill>
          <a:ln w="11430">
            <a:solidFill>
              <a:srgbClr val="31415E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174AF8-31B1-42ED-B635-EE77B2DAC09E}"/>
              </a:ext>
            </a:extLst>
          </p:cNvPr>
          <p:cNvSpPr>
            <a:spLocks noGrp="1"/>
          </p:cNvSpPr>
          <p:nvPr/>
        </p:nvSpPr>
        <p:spPr>
          <a:xfrm>
            <a:off x="552450" y="3543300"/>
            <a:ext cx="76200" cy="2000250"/>
          </a:xfrm>
          <a:prstGeom prst="rect">
            <a:avLst/>
          </a:prstGeom>
          <a:solidFill>
            <a:srgbClr val="F5B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F6BB72-5AE9-4ABF-85E3-036ABE98A3AD}"/>
              </a:ext>
            </a:extLst>
          </p:cNvPr>
          <p:cNvSpPr>
            <a:spLocks noGrp="1"/>
          </p:cNvSpPr>
          <p:nvPr/>
        </p:nvSpPr>
        <p:spPr>
          <a:xfrm>
            <a:off x="762000" y="3714750"/>
            <a:ext cx="5029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56652" lnSpcReduction="10000"/>
          </a:bodyPr>
          <a:lstStyle/>
          <a:p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Drivers / Field Staff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B480D7-4B40-424A-BB08-4B4F5C977B78}"/>
              </a:ext>
            </a:extLst>
          </p:cNvPr>
          <p:cNvSpPr>
            <a:spLocks noGrp="1"/>
          </p:cNvSpPr>
          <p:nvPr/>
        </p:nvSpPr>
        <p:spPr>
          <a:xfrm>
            <a:off x="781050" y="4095750"/>
            <a:ext cx="4953000" cy="1314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/>
          </a:bodyPr>
          <a:lstStyle/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Receive assignments and route guidance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Update operational progress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Manage active loads and upcoming collections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4080084-CB1A-45D4-A92A-965A7BF09217}"/>
              </a:ext>
            </a:extLst>
          </p:cNvPr>
          <p:cNvSpPr>
            <a:spLocks noGrp="1"/>
          </p:cNvSpPr>
          <p:nvPr/>
        </p:nvSpPr>
        <p:spPr>
          <a:xfrm>
            <a:off x="6076950" y="3543300"/>
            <a:ext cx="5562600" cy="2000250"/>
          </a:xfrm>
          <a:prstGeom prst="roundRect">
            <a:avLst>
              <a:gd name="adj" fmla="val 3810"/>
            </a:avLst>
          </a:prstGeom>
          <a:solidFill>
            <a:srgbClr val="1A2438"/>
          </a:solidFill>
          <a:ln w="11430">
            <a:solidFill>
              <a:srgbClr val="31415E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3BE429E-B7EF-412C-804B-F6A35A4B4B55}"/>
              </a:ext>
            </a:extLst>
          </p:cNvPr>
          <p:cNvSpPr>
            <a:spLocks noGrp="1"/>
          </p:cNvSpPr>
          <p:nvPr/>
        </p:nvSpPr>
        <p:spPr>
          <a:xfrm>
            <a:off x="6076950" y="3543300"/>
            <a:ext cx="76200" cy="2000250"/>
          </a:xfrm>
          <a:prstGeom prst="rect">
            <a:avLst/>
          </a:prstGeom>
          <a:solidFill>
            <a:srgbClr val="EF5B6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DD554AD-E44C-437C-9827-F83C1CC683E8}"/>
              </a:ext>
            </a:extLst>
          </p:cNvPr>
          <p:cNvSpPr>
            <a:spLocks noGrp="1"/>
          </p:cNvSpPr>
          <p:nvPr/>
        </p:nvSpPr>
        <p:spPr>
          <a:xfrm>
            <a:off x="6286500" y="3714750"/>
            <a:ext cx="5257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56652" lnSpcReduction="10000"/>
          </a:bodyPr>
          <a:lstStyle/>
          <a:p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Municipal / Project Team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352EB3-3B21-4EAF-8D05-AE5F253CF72F}"/>
              </a:ext>
            </a:extLst>
          </p:cNvPr>
          <p:cNvSpPr>
            <a:spLocks noGrp="1"/>
          </p:cNvSpPr>
          <p:nvPr/>
        </p:nvSpPr>
        <p:spPr>
          <a:xfrm>
            <a:off x="6305550" y="4095750"/>
            <a:ext cx="5181600" cy="1314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/>
          </a:bodyPr>
          <a:lstStyle/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Uses the system for decision support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Evaluates AI impact on day-to-day operations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Maintains the app, database, APIs, and future deployment</a:t>
            </a:r>
          </a:p>
        </p:txBody>
      </p:sp>
    </p:spTree>
    <p:extLst>
      <p:ext uri="{BB962C8B-B14F-4D97-AF65-F5344CB8AC3E}">
        <p14:creationId xmlns:p14="http://schemas.microsoft.com/office/powerpoint/2010/main" val="270721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8CB5A5BE-3F39-457D-A3A8-86F73ACE639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3CD873-A381-4BE5-8453-8211B1B5A1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2988F0-DB48-4C46-8D4A-AF38B473F9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424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62196E-224D-4DA3-B9E3-5B2D68FBB2FD}"/>
              </a:ext>
            </a:extLst>
          </p:cNvPr>
          <p:cNvSpPr>
            <a:spLocks noGrp="1"/>
          </p:cNvSpPr>
          <p:nvPr/>
        </p:nvSpPr>
        <p:spPr>
          <a:xfrm>
            <a:off x="552450" y="171450"/>
            <a:ext cx="8001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95721" lnSpcReduction="10000"/>
          </a:bodyPr>
          <a:lstStyle/>
          <a:p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Programming Languages, Tools, And Software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AD5CD4-C154-4351-8B7C-29B46749282A}"/>
              </a:ext>
            </a:extLst>
          </p:cNvPr>
          <p:cNvSpPr>
            <a:spLocks noGrp="1"/>
          </p:cNvSpPr>
          <p:nvPr/>
        </p:nvSpPr>
        <p:spPr>
          <a:xfrm>
            <a:off x="10382250" y="20955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81920" lnSpcReduction="10000"/>
          </a:bodyPr>
          <a:lstStyle/>
          <a:p>
            <a:pPr algn="r">
              <a:defRPr sz="1050" b="1">
                <a:solidFill>
                  <a:srgbClr val="1FC18A"/>
                </a:solidFill>
              </a:defRPr>
            </a:pPr>
            <a:r>
              <a:rPr sz="1050" b="1">
                <a:solidFill>
                  <a:srgbClr val="1FC18A"/>
                </a:solidFill>
              </a:rPr>
              <a:t>Slide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2D9009-944A-4B65-9470-4C46B29AF4EB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1087100" cy="19050"/>
          </a:xfrm>
          <a:prstGeom prst="rect">
            <a:avLst/>
          </a:prstGeom>
          <a:solidFill>
            <a:srgbClr val="1FC1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D8CB246-8398-491D-A7BD-62B8CF1391E4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3429000" cy="4000500"/>
          </a:xfrm>
          <a:prstGeom prst="roundRect">
            <a:avLst>
              <a:gd name="adj" fmla="val 2222"/>
            </a:avLst>
          </a:prstGeom>
          <a:solidFill>
            <a:srgbClr val="1A2438"/>
          </a:solidFill>
          <a:ln w="11430">
            <a:solidFill>
              <a:srgbClr val="31415E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20E8D2-A274-4254-98FC-E4BF68D3B73A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76200" cy="4000500"/>
          </a:xfrm>
          <a:prstGeom prst="rect">
            <a:avLst/>
          </a:prstGeom>
          <a:solidFill>
            <a:srgbClr val="1FC1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0BC301-32C3-4F5E-8BD4-84F1EA22F07B}"/>
              </a:ext>
            </a:extLst>
          </p:cNvPr>
          <p:cNvSpPr>
            <a:spLocks noGrp="1"/>
          </p:cNvSpPr>
          <p:nvPr/>
        </p:nvSpPr>
        <p:spPr>
          <a:xfrm>
            <a:off x="762000" y="1371600"/>
            <a:ext cx="3124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56652" lnSpcReduction="10000"/>
          </a:bodyPr>
          <a:lstStyle/>
          <a:p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Frontend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576137-EB2E-4A8C-960B-1B6CD222C628}"/>
              </a:ext>
            </a:extLst>
          </p:cNvPr>
          <p:cNvSpPr>
            <a:spLocks noGrp="1"/>
          </p:cNvSpPr>
          <p:nvPr/>
        </p:nvSpPr>
        <p:spPr>
          <a:xfrm>
            <a:off x="781050" y="1752600"/>
            <a:ext cx="3048000" cy="3314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/>
          </a:bodyPr>
          <a:lstStyle/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HTML5 and CSS for layout and styling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JavaScript / JSX pages in a Vite-style React project structure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Pages shown in screenshots: Login, Dashboard, Tasks, Analytics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13694D7-15B4-4E9E-9C14-E9B53E02A945}"/>
              </a:ext>
            </a:extLst>
          </p:cNvPr>
          <p:cNvSpPr>
            <a:spLocks noGrp="1"/>
          </p:cNvSpPr>
          <p:nvPr/>
        </p:nvSpPr>
        <p:spPr>
          <a:xfrm>
            <a:off x="4362450" y="1200150"/>
            <a:ext cx="3429000" cy="4000500"/>
          </a:xfrm>
          <a:prstGeom prst="roundRect">
            <a:avLst>
              <a:gd name="adj" fmla="val 2222"/>
            </a:avLst>
          </a:prstGeom>
          <a:solidFill>
            <a:srgbClr val="1A2438"/>
          </a:solidFill>
          <a:ln w="11430">
            <a:solidFill>
              <a:srgbClr val="31415E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23E088-5AF0-44D7-9728-E9376DB7BBE1}"/>
              </a:ext>
            </a:extLst>
          </p:cNvPr>
          <p:cNvSpPr>
            <a:spLocks noGrp="1"/>
          </p:cNvSpPr>
          <p:nvPr/>
        </p:nvSpPr>
        <p:spPr>
          <a:xfrm>
            <a:off x="4362450" y="1200150"/>
            <a:ext cx="76200" cy="4000500"/>
          </a:xfrm>
          <a:prstGeom prst="rect">
            <a:avLst/>
          </a:prstGeom>
          <a:solidFill>
            <a:srgbClr val="41B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9B994E-FD31-42AD-B3F2-C63B6C7B79D2}"/>
              </a:ext>
            </a:extLst>
          </p:cNvPr>
          <p:cNvSpPr>
            <a:spLocks noGrp="1"/>
          </p:cNvSpPr>
          <p:nvPr/>
        </p:nvSpPr>
        <p:spPr>
          <a:xfrm>
            <a:off x="4572000" y="1371600"/>
            <a:ext cx="3124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56652" lnSpcReduction="10000"/>
          </a:bodyPr>
          <a:lstStyle/>
          <a:p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Backend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04259A-14F9-49B1-9605-EE56E6D48F4F}"/>
              </a:ext>
            </a:extLst>
          </p:cNvPr>
          <p:cNvSpPr>
            <a:spLocks noGrp="1"/>
          </p:cNvSpPr>
          <p:nvPr/>
        </p:nvSpPr>
        <p:spPr>
          <a:xfrm>
            <a:off x="4591050" y="1752600"/>
            <a:ext cx="3048000" cy="3314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/>
          </a:bodyPr>
          <a:lstStyle/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Node.js with Express.js REST APIs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Mongoose models for User, Driver, Task, Complaint, and Waste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mongodb-memory-server used in the shared backend setup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dotenv and cors configured in the server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FA1C7C1-DBAD-4708-B166-68A2863C9E24}"/>
              </a:ext>
            </a:extLst>
          </p:cNvPr>
          <p:cNvSpPr>
            <a:spLocks noGrp="1"/>
          </p:cNvSpPr>
          <p:nvPr/>
        </p:nvSpPr>
        <p:spPr>
          <a:xfrm>
            <a:off x="8172450" y="1200150"/>
            <a:ext cx="3467100" cy="4000500"/>
          </a:xfrm>
          <a:prstGeom prst="roundRect">
            <a:avLst>
              <a:gd name="adj" fmla="val 2198"/>
            </a:avLst>
          </a:prstGeom>
          <a:solidFill>
            <a:srgbClr val="1A2438"/>
          </a:solidFill>
          <a:ln w="11430">
            <a:solidFill>
              <a:srgbClr val="31415E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1F6649-6BFE-463A-99FD-7FF4F90EDCEB}"/>
              </a:ext>
            </a:extLst>
          </p:cNvPr>
          <p:cNvSpPr>
            <a:spLocks noGrp="1"/>
          </p:cNvSpPr>
          <p:nvPr/>
        </p:nvSpPr>
        <p:spPr>
          <a:xfrm>
            <a:off x="8172450" y="1200150"/>
            <a:ext cx="76200" cy="4000500"/>
          </a:xfrm>
          <a:prstGeom prst="rect">
            <a:avLst/>
          </a:prstGeom>
          <a:solidFill>
            <a:srgbClr val="F5B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239582-E5E6-446D-AB41-E63001584DE1}"/>
              </a:ext>
            </a:extLst>
          </p:cNvPr>
          <p:cNvSpPr>
            <a:spLocks noGrp="1"/>
          </p:cNvSpPr>
          <p:nvPr/>
        </p:nvSpPr>
        <p:spPr>
          <a:xfrm>
            <a:off x="8382000" y="1371600"/>
            <a:ext cx="3162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56652" lnSpcReduction="10000"/>
          </a:bodyPr>
          <a:lstStyle/>
          <a:p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AI, Mapping, And Dev Tools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D8B728-174E-4477-A65F-30D5B1A2357D}"/>
              </a:ext>
            </a:extLst>
          </p:cNvPr>
          <p:cNvSpPr>
            <a:spLocks noGrp="1"/>
          </p:cNvSpPr>
          <p:nvPr/>
        </p:nvSpPr>
        <p:spPr>
          <a:xfrm>
            <a:off x="8401050" y="1752600"/>
            <a:ext cx="3086100" cy="3314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/>
          </a:bodyPr>
          <a:lstStyle/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Groq SDK for LLM / vision requests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Model calls in code: Llama 4 Scout and Llama 3.3 70B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OpenStreetMap Nominatim for geocoding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OSRM for route path generation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VS Code, npm, and AI coding assistant workflow</a:t>
            </a:r>
          </a:p>
        </p:txBody>
      </p:sp>
    </p:spTree>
    <p:extLst>
      <p:ext uri="{BB962C8B-B14F-4D97-AF65-F5344CB8AC3E}">
        <p14:creationId xmlns:p14="http://schemas.microsoft.com/office/powerpoint/2010/main" val="1062437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8CB5A5BE-3F39-457D-A3A8-86F73ACE639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293461-6C35-48C6-B586-904A21052B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2E46DB-67A7-4275-991F-A042440DBB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424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B6A7E5-A101-4FFE-9847-4B5A3D45C623}"/>
              </a:ext>
            </a:extLst>
          </p:cNvPr>
          <p:cNvSpPr>
            <a:spLocks noGrp="1"/>
          </p:cNvSpPr>
          <p:nvPr/>
        </p:nvSpPr>
        <p:spPr>
          <a:xfrm>
            <a:off x="552450" y="171450"/>
            <a:ext cx="8001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95721" lnSpcReduction="10000"/>
          </a:bodyPr>
          <a:lstStyle/>
          <a:p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All Prompts Used To Generate The Codes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575EAE-C149-4624-AD10-CC32824F5531}"/>
              </a:ext>
            </a:extLst>
          </p:cNvPr>
          <p:cNvSpPr>
            <a:spLocks noGrp="1"/>
          </p:cNvSpPr>
          <p:nvPr/>
        </p:nvSpPr>
        <p:spPr>
          <a:xfrm>
            <a:off x="10382250" y="20955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81920" lnSpcReduction="10000"/>
          </a:bodyPr>
          <a:lstStyle/>
          <a:p>
            <a:pPr algn="r">
              <a:defRPr sz="1050" b="1">
                <a:solidFill>
                  <a:srgbClr val="1FC18A"/>
                </a:solidFill>
              </a:defRPr>
            </a:pPr>
            <a:r>
              <a:rPr sz="1050" b="1">
                <a:solidFill>
                  <a:srgbClr val="1FC18A"/>
                </a:solidFill>
              </a:rPr>
              <a:t>Slide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D4571E-00FE-4B5D-B2F3-616C2AB6DDCF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1087100" cy="19050"/>
          </a:xfrm>
          <a:prstGeom prst="rect">
            <a:avLst/>
          </a:prstGeom>
          <a:solidFill>
            <a:srgbClr val="1FC1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D9129A-A0D1-41E2-AC86-370E6BC4ADE2}"/>
              </a:ext>
            </a:extLst>
          </p:cNvPr>
          <p:cNvSpPr>
            <a:spLocks noGrp="1"/>
          </p:cNvSpPr>
          <p:nvPr/>
        </p:nvSpPr>
        <p:spPr>
          <a:xfrm>
            <a:off x="552450" y="1028700"/>
            <a:ext cx="7239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89420" lnSpcReduction="10000"/>
          </a:bodyPr>
          <a:lstStyle/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Representative AI-assisted coding prompts reconstructed from the delivered project modules and screenshots.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1697D28-646A-4374-A8B8-100AA790B9A5}"/>
              </a:ext>
            </a:extLst>
          </p:cNvPr>
          <p:cNvSpPr>
            <a:spLocks noGrp="1"/>
          </p:cNvSpPr>
          <p:nvPr/>
        </p:nvSpPr>
        <p:spPr>
          <a:xfrm>
            <a:off x="552450" y="1485900"/>
            <a:ext cx="5334000" cy="1619250"/>
          </a:xfrm>
          <a:prstGeom prst="roundRect">
            <a:avLst>
              <a:gd name="adj" fmla="val 4706"/>
            </a:avLst>
          </a:prstGeom>
          <a:solidFill>
            <a:srgbClr val="1A2438"/>
          </a:solidFill>
          <a:ln w="11430">
            <a:solidFill>
              <a:srgbClr val="31415E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005250-0903-4D89-9321-F8E4BC2BA804}"/>
              </a:ext>
            </a:extLst>
          </p:cNvPr>
          <p:cNvSpPr>
            <a:spLocks noGrp="1"/>
          </p:cNvSpPr>
          <p:nvPr/>
        </p:nvSpPr>
        <p:spPr>
          <a:xfrm>
            <a:off x="552450" y="1485900"/>
            <a:ext cx="76200" cy="1619250"/>
          </a:xfrm>
          <a:prstGeom prst="rect">
            <a:avLst/>
          </a:prstGeom>
          <a:solidFill>
            <a:srgbClr val="1FC1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043891-48F8-4859-A576-F0DEFFA0CF4D}"/>
              </a:ext>
            </a:extLst>
          </p:cNvPr>
          <p:cNvSpPr>
            <a:spLocks noGrp="1"/>
          </p:cNvSpPr>
          <p:nvPr/>
        </p:nvSpPr>
        <p:spPr>
          <a:xfrm>
            <a:off x="762000" y="1657350"/>
            <a:ext cx="5029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56652" lnSpcReduction="10000"/>
          </a:bodyPr>
          <a:lstStyle/>
          <a:p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Prompt 1 - Waste Analysis API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1E3A16-F71F-4336-A4FF-5BA7A8E3119F}"/>
              </a:ext>
            </a:extLst>
          </p:cNvPr>
          <p:cNvSpPr>
            <a:spLocks noGrp="1"/>
          </p:cNvSpPr>
          <p:nvPr/>
        </p:nvSpPr>
        <p:spPr>
          <a:xfrm>
            <a:off x="781050" y="2038350"/>
            <a:ext cx="495300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/>
          </a:bodyPr>
          <a:lstStyle/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Create a backend endpoint that accepts a base64 waste image and weight.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Call a vision model and return category plus confidence as JSON only.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Store valid categories such as Organic, Recyclable, Hazardous, and E-Waste.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44EDC7C-42D7-4444-9756-D0D1AB58D26C}"/>
              </a:ext>
            </a:extLst>
          </p:cNvPr>
          <p:cNvSpPr>
            <a:spLocks noGrp="1"/>
          </p:cNvSpPr>
          <p:nvPr/>
        </p:nvSpPr>
        <p:spPr>
          <a:xfrm>
            <a:off x="6076950" y="1485900"/>
            <a:ext cx="5562600" cy="1619250"/>
          </a:xfrm>
          <a:prstGeom prst="roundRect">
            <a:avLst>
              <a:gd name="adj" fmla="val 4706"/>
            </a:avLst>
          </a:prstGeom>
          <a:solidFill>
            <a:srgbClr val="1A2438"/>
          </a:solidFill>
          <a:ln w="11430">
            <a:solidFill>
              <a:srgbClr val="31415E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D9CACA-7544-4178-9477-5F6375EC149F}"/>
              </a:ext>
            </a:extLst>
          </p:cNvPr>
          <p:cNvSpPr>
            <a:spLocks noGrp="1"/>
          </p:cNvSpPr>
          <p:nvPr/>
        </p:nvSpPr>
        <p:spPr>
          <a:xfrm>
            <a:off x="6076950" y="1485900"/>
            <a:ext cx="76200" cy="1619250"/>
          </a:xfrm>
          <a:prstGeom prst="rect">
            <a:avLst/>
          </a:prstGeom>
          <a:solidFill>
            <a:srgbClr val="41B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1EA476-A944-4B1C-9F5C-C956E189E23A}"/>
              </a:ext>
            </a:extLst>
          </p:cNvPr>
          <p:cNvSpPr>
            <a:spLocks noGrp="1"/>
          </p:cNvSpPr>
          <p:nvPr/>
        </p:nvSpPr>
        <p:spPr>
          <a:xfrm>
            <a:off x="6286500" y="1657350"/>
            <a:ext cx="5257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56652" lnSpcReduction="10000"/>
          </a:bodyPr>
          <a:lstStyle/>
          <a:p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Prompt 2 - Driver And Task Management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E43228-1CB5-4654-8DE1-B174A6AB5BB2}"/>
              </a:ext>
            </a:extLst>
          </p:cNvPr>
          <p:cNvSpPr>
            <a:spLocks noGrp="1"/>
          </p:cNvSpPr>
          <p:nvPr/>
        </p:nvSpPr>
        <p:spPr>
          <a:xfrm>
            <a:off x="6305550" y="2038350"/>
            <a:ext cx="518160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/>
          </a:bodyPr>
          <a:lstStyle/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Build task creation, driver registration, and status tracking APIs.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Support collection area, priority, assigned driver, and upcoming collections.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Return dashboard-friendly JSON for frontend task pages.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C4B567B-FEFF-4D48-A041-E9E340123EC4}"/>
              </a:ext>
            </a:extLst>
          </p:cNvPr>
          <p:cNvSpPr>
            <a:spLocks noGrp="1"/>
          </p:cNvSpPr>
          <p:nvPr/>
        </p:nvSpPr>
        <p:spPr>
          <a:xfrm>
            <a:off x="552450" y="3390900"/>
            <a:ext cx="5334000" cy="1619250"/>
          </a:xfrm>
          <a:prstGeom prst="roundRect">
            <a:avLst>
              <a:gd name="adj" fmla="val 4706"/>
            </a:avLst>
          </a:prstGeom>
          <a:solidFill>
            <a:srgbClr val="1A2438"/>
          </a:solidFill>
          <a:ln w="11430">
            <a:solidFill>
              <a:srgbClr val="31415E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99586C-8435-4F1F-86B3-E10F3FB114E3}"/>
              </a:ext>
            </a:extLst>
          </p:cNvPr>
          <p:cNvSpPr>
            <a:spLocks noGrp="1"/>
          </p:cNvSpPr>
          <p:nvPr/>
        </p:nvSpPr>
        <p:spPr>
          <a:xfrm>
            <a:off x="552450" y="3390900"/>
            <a:ext cx="76200" cy="1619250"/>
          </a:xfrm>
          <a:prstGeom prst="rect">
            <a:avLst/>
          </a:prstGeom>
          <a:solidFill>
            <a:srgbClr val="F5B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5BA04F-89BA-4E89-AE68-9EC83CA5B699}"/>
              </a:ext>
            </a:extLst>
          </p:cNvPr>
          <p:cNvSpPr>
            <a:spLocks noGrp="1"/>
          </p:cNvSpPr>
          <p:nvPr/>
        </p:nvSpPr>
        <p:spPr>
          <a:xfrm>
            <a:off x="762000" y="3562350"/>
            <a:ext cx="5029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56652" lnSpcReduction="10000"/>
          </a:bodyPr>
          <a:lstStyle/>
          <a:p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Prompt 3 - AI Driver Allocation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D03BCF-5C16-4B01-86CC-901220D8B373}"/>
              </a:ext>
            </a:extLst>
          </p:cNvPr>
          <p:cNvSpPr>
            <a:spLocks noGrp="1"/>
          </p:cNvSpPr>
          <p:nvPr/>
        </p:nvSpPr>
        <p:spPr>
          <a:xfrm>
            <a:off x="781050" y="3943350"/>
            <a:ext cx="495300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/>
          </a:bodyPr>
          <a:lstStyle/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Add AI logic so the system can allocate tasks to available drivers.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Group tasks territorially and return assignment mapping in JSON format.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After allocation, fetch real route paths for each driver.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0CAA832-F478-44AB-9B35-33292DD1A7B6}"/>
              </a:ext>
            </a:extLst>
          </p:cNvPr>
          <p:cNvSpPr>
            <a:spLocks noGrp="1"/>
          </p:cNvSpPr>
          <p:nvPr/>
        </p:nvSpPr>
        <p:spPr>
          <a:xfrm>
            <a:off x="6076950" y="3390900"/>
            <a:ext cx="5562600" cy="1619250"/>
          </a:xfrm>
          <a:prstGeom prst="roundRect">
            <a:avLst>
              <a:gd name="adj" fmla="val 4706"/>
            </a:avLst>
          </a:prstGeom>
          <a:solidFill>
            <a:srgbClr val="1A2438"/>
          </a:solidFill>
          <a:ln w="11430">
            <a:solidFill>
              <a:srgbClr val="31415E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C0FEB9-D6EC-4C76-9268-65F89547AAB9}"/>
              </a:ext>
            </a:extLst>
          </p:cNvPr>
          <p:cNvSpPr>
            <a:spLocks noGrp="1"/>
          </p:cNvSpPr>
          <p:nvPr/>
        </p:nvSpPr>
        <p:spPr>
          <a:xfrm>
            <a:off x="6076950" y="3390900"/>
            <a:ext cx="76200" cy="1619250"/>
          </a:xfrm>
          <a:prstGeom prst="rect">
            <a:avLst/>
          </a:prstGeom>
          <a:solidFill>
            <a:srgbClr val="EF5B6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CA3D7BA-3EBC-4C3D-AC3F-AB55D23EDA3F}"/>
              </a:ext>
            </a:extLst>
          </p:cNvPr>
          <p:cNvSpPr>
            <a:spLocks noGrp="1"/>
          </p:cNvSpPr>
          <p:nvPr/>
        </p:nvSpPr>
        <p:spPr>
          <a:xfrm>
            <a:off x="6286500" y="3562350"/>
            <a:ext cx="5257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56652" lnSpcReduction="10000"/>
          </a:bodyPr>
          <a:lstStyle/>
          <a:p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Prompt 4 - Frontend Pages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CE1C586-7480-460B-A75C-C71BF1087940}"/>
              </a:ext>
            </a:extLst>
          </p:cNvPr>
          <p:cNvSpPr>
            <a:spLocks noGrp="1"/>
          </p:cNvSpPr>
          <p:nvPr/>
        </p:nvSpPr>
        <p:spPr>
          <a:xfrm>
            <a:off x="6305550" y="3943350"/>
            <a:ext cx="518160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/>
          </a:bodyPr>
          <a:lstStyle/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Generate dashboards for login, analytics, complaints, routes, and tasks.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Design a dark UI with KPI cards, charts, side navigation, and forms.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Make the app feel modern and operationally focused.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D8F8E2-7314-45C1-A845-3A2CBDCE7F41}"/>
              </a:ext>
            </a:extLst>
          </p:cNvPr>
          <p:cNvSpPr>
            <a:spLocks noGrp="1"/>
          </p:cNvSpPr>
          <p:nvPr/>
        </p:nvSpPr>
        <p:spPr>
          <a:xfrm>
            <a:off x="552450" y="5334000"/>
            <a:ext cx="1104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/>
          </a:bodyPr>
          <a:lstStyle/>
          <a:p>
            <a:pPr algn="l">
              <a:defRPr sz="1050" b="0">
                <a:solidFill>
                  <a:srgbClr val="B9C1D3"/>
                </a:solidFill>
              </a:defRPr>
            </a:pPr>
            <a:endParaRPr lang="en-IN" sz="1050" dirty="0">
              <a:solidFill>
                <a:srgbClr val="B9C1D3"/>
              </a:solidFill>
            </a:endParaRPr>
          </a:p>
          <a:p>
            <a:pPr algn="l">
              <a:defRPr sz="1050" b="0">
                <a:solidFill>
                  <a:srgbClr val="B9C1D3"/>
                </a:solidFill>
              </a:defRPr>
            </a:pPr>
            <a:endParaRPr sz="1050" b="0" dirty="0">
              <a:solidFill>
                <a:srgbClr val="B9C1D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8379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ide Number Placeholder 5">
            <a:extLst>
              <a:ext uri="{FF2B5EF4-FFF2-40B4-BE49-F238E27FC236}">
                <a16:creationId xmlns:a16="http://schemas.microsoft.com/office/drawing/2014/main" id="{8CB5A5BE-3F39-457D-A3A8-86F73ACE639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6CDC89-A1A6-4B21-AC3B-0DC388AE40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53C356-1712-42D3-B6CC-23C70AE87E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424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B82F56-493A-4455-9DBD-9224DC5265A5}"/>
              </a:ext>
            </a:extLst>
          </p:cNvPr>
          <p:cNvSpPr>
            <a:spLocks noGrp="1"/>
          </p:cNvSpPr>
          <p:nvPr/>
        </p:nvSpPr>
        <p:spPr>
          <a:xfrm>
            <a:off x="552450" y="171450"/>
            <a:ext cx="8001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95721" lnSpcReduction="10000"/>
          </a:bodyPr>
          <a:lstStyle/>
          <a:p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Flow Chart Of The Workflow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23334A-AA52-4F55-A628-9011A09C8A0F}"/>
              </a:ext>
            </a:extLst>
          </p:cNvPr>
          <p:cNvSpPr>
            <a:spLocks noGrp="1"/>
          </p:cNvSpPr>
          <p:nvPr/>
        </p:nvSpPr>
        <p:spPr>
          <a:xfrm>
            <a:off x="10382250" y="20955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81920" lnSpcReduction="10000"/>
          </a:bodyPr>
          <a:lstStyle/>
          <a:p>
            <a:pPr algn="r">
              <a:defRPr sz="1050" b="1">
                <a:solidFill>
                  <a:srgbClr val="1FC18A"/>
                </a:solidFill>
              </a:defRPr>
            </a:pPr>
            <a:r>
              <a:rPr sz="1050" b="1">
                <a:solidFill>
                  <a:srgbClr val="1FC18A"/>
                </a:solidFill>
              </a:rPr>
              <a:t>Slide 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F44ABA-3A0E-4536-8EC3-1A0A4E649349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1087100" cy="19050"/>
          </a:xfrm>
          <a:prstGeom prst="rect">
            <a:avLst/>
          </a:prstGeom>
          <a:solidFill>
            <a:srgbClr val="1FC1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9BE87A7-266D-4EE4-BC60-4879590F1B70}"/>
              </a:ext>
            </a:extLst>
          </p:cNvPr>
          <p:cNvSpPr>
            <a:spLocks noGrp="1"/>
          </p:cNvSpPr>
          <p:nvPr/>
        </p:nvSpPr>
        <p:spPr>
          <a:xfrm>
            <a:off x="647700" y="1333500"/>
            <a:ext cx="2000250" cy="838200"/>
          </a:xfrm>
          <a:prstGeom prst="roundRect">
            <a:avLst>
              <a:gd name="adj" fmla="val 9091"/>
            </a:avLst>
          </a:prstGeom>
          <a:solidFill>
            <a:srgbClr val="1A2438"/>
          </a:solidFill>
          <a:ln w="11430">
            <a:solidFill>
              <a:srgbClr val="31415E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B8E542-1E5F-451A-A7F0-F8D3C4E098DA}"/>
              </a:ext>
            </a:extLst>
          </p:cNvPr>
          <p:cNvSpPr>
            <a:spLocks noGrp="1"/>
          </p:cNvSpPr>
          <p:nvPr/>
        </p:nvSpPr>
        <p:spPr>
          <a:xfrm>
            <a:off x="647700" y="1333500"/>
            <a:ext cx="2000250" cy="57150"/>
          </a:xfrm>
          <a:prstGeom prst="rect">
            <a:avLst/>
          </a:prstGeom>
          <a:solidFill>
            <a:srgbClr val="1FC1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109633-6788-4A9B-85C1-D2B79008259A}"/>
              </a:ext>
            </a:extLst>
          </p:cNvPr>
          <p:cNvSpPr>
            <a:spLocks noGrp="1"/>
          </p:cNvSpPr>
          <p:nvPr/>
        </p:nvSpPr>
        <p:spPr>
          <a:xfrm>
            <a:off x="800100" y="1466850"/>
            <a:ext cx="1695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46051" lnSpcReduction="10000"/>
          </a:bodyPr>
          <a:lstStyle/>
          <a:p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1. Login / Register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67CA8B-4180-4DA5-8E52-07179F0C3E76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1695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56927" lnSpcReduction="10000"/>
          </a:bodyPr>
          <a:lstStyle/>
          <a:p>
            <a:pPr algn="l">
              <a:defRPr sz="975" b="0">
                <a:solidFill>
                  <a:srgbClr val="B9C1D3"/>
                </a:solidFill>
              </a:defRPr>
            </a:pPr>
            <a:r>
              <a:rPr sz="975" b="0">
                <a:solidFill>
                  <a:srgbClr val="B9C1D3"/>
                </a:solidFill>
              </a:rPr>
              <a:t>User enters the app through secure account screens.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2916CBB-FE4F-4359-916E-73027DB55013}"/>
              </a:ext>
            </a:extLst>
          </p:cNvPr>
          <p:cNvSpPr>
            <a:spLocks noGrp="1"/>
          </p:cNvSpPr>
          <p:nvPr/>
        </p:nvSpPr>
        <p:spPr>
          <a:xfrm>
            <a:off x="2762250" y="1524000"/>
            <a:ext cx="666750" cy="381000"/>
          </a:xfrm>
          <a:prstGeom prst="rightArrow">
            <a:avLst/>
          </a:prstGeom>
          <a:solidFill>
            <a:srgbClr val="1FC1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152B679-EC40-4ABC-9EAD-65ECB9721678}"/>
              </a:ext>
            </a:extLst>
          </p:cNvPr>
          <p:cNvSpPr>
            <a:spLocks noGrp="1"/>
          </p:cNvSpPr>
          <p:nvPr/>
        </p:nvSpPr>
        <p:spPr>
          <a:xfrm>
            <a:off x="3543300" y="1333500"/>
            <a:ext cx="2381250" cy="838200"/>
          </a:xfrm>
          <a:prstGeom prst="roundRect">
            <a:avLst>
              <a:gd name="adj" fmla="val 9091"/>
            </a:avLst>
          </a:prstGeom>
          <a:solidFill>
            <a:srgbClr val="1A2438"/>
          </a:solidFill>
          <a:ln w="11430">
            <a:solidFill>
              <a:srgbClr val="31415E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0592C4-C67E-4BC4-8BC9-B8B994F15A4F}"/>
              </a:ext>
            </a:extLst>
          </p:cNvPr>
          <p:cNvSpPr>
            <a:spLocks noGrp="1"/>
          </p:cNvSpPr>
          <p:nvPr/>
        </p:nvSpPr>
        <p:spPr>
          <a:xfrm>
            <a:off x="3543300" y="1333500"/>
            <a:ext cx="2381250" cy="57150"/>
          </a:xfrm>
          <a:prstGeom prst="rect">
            <a:avLst/>
          </a:prstGeom>
          <a:solidFill>
            <a:srgbClr val="41B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CCE472-5BDE-43C7-8713-39E975BAE05E}"/>
              </a:ext>
            </a:extLst>
          </p:cNvPr>
          <p:cNvSpPr>
            <a:spLocks noGrp="1"/>
          </p:cNvSpPr>
          <p:nvPr/>
        </p:nvSpPr>
        <p:spPr>
          <a:xfrm>
            <a:off x="3695700" y="1466850"/>
            <a:ext cx="2076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46051" lnSpcReduction="10000"/>
          </a:bodyPr>
          <a:lstStyle/>
          <a:p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2. Upload / Create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CF5127-39E7-424E-BF96-E173C35B0FDC}"/>
              </a:ext>
            </a:extLst>
          </p:cNvPr>
          <p:cNvSpPr>
            <a:spLocks noGrp="1"/>
          </p:cNvSpPr>
          <p:nvPr/>
        </p:nvSpPr>
        <p:spPr>
          <a:xfrm>
            <a:off x="3695700" y="1714500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57035" lnSpcReduction="10000"/>
          </a:bodyPr>
          <a:lstStyle/>
          <a:p>
            <a:pPr algn="l">
              <a:defRPr sz="975" b="0">
                <a:solidFill>
                  <a:srgbClr val="B9C1D3"/>
                </a:solidFill>
              </a:defRPr>
            </a:pPr>
            <a:r>
              <a:rPr sz="975" b="0">
                <a:solidFill>
                  <a:srgbClr val="B9C1D3"/>
                </a:solidFill>
              </a:rPr>
              <a:t>Image upload, complaint filing, or task creation starts the process.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249FE392-05CF-47E5-AF16-5036CF41490E}"/>
              </a:ext>
            </a:extLst>
          </p:cNvPr>
          <p:cNvSpPr>
            <a:spLocks noGrp="1"/>
          </p:cNvSpPr>
          <p:nvPr/>
        </p:nvSpPr>
        <p:spPr>
          <a:xfrm>
            <a:off x="6057900" y="1524000"/>
            <a:ext cx="666750" cy="381000"/>
          </a:xfrm>
          <a:prstGeom prst="rightArrow">
            <a:avLst/>
          </a:prstGeom>
          <a:solidFill>
            <a:srgbClr val="1FC1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6BDB61F-3FE1-423D-8C3A-D3415EDF48C5}"/>
              </a:ext>
            </a:extLst>
          </p:cNvPr>
          <p:cNvSpPr>
            <a:spLocks noGrp="1"/>
          </p:cNvSpPr>
          <p:nvPr/>
        </p:nvSpPr>
        <p:spPr>
          <a:xfrm>
            <a:off x="6858000" y="1333500"/>
            <a:ext cx="2381250" cy="838200"/>
          </a:xfrm>
          <a:prstGeom prst="roundRect">
            <a:avLst>
              <a:gd name="adj" fmla="val 9091"/>
            </a:avLst>
          </a:prstGeom>
          <a:solidFill>
            <a:srgbClr val="1A2438"/>
          </a:solidFill>
          <a:ln w="11430">
            <a:solidFill>
              <a:srgbClr val="31415E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29BAFB-AF03-4944-8784-B1C9F8C7469C}"/>
              </a:ext>
            </a:extLst>
          </p:cNvPr>
          <p:cNvSpPr>
            <a:spLocks noGrp="1"/>
          </p:cNvSpPr>
          <p:nvPr/>
        </p:nvSpPr>
        <p:spPr>
          <a:xfrm>
            <a:off x="6858000" y="1333500"/>
            <a:ext cx="2381250" cy="57150"/>
          </a:xfrm>
          <a:prstGeom prst="rect">
            <a:avLst/>
          </a:prstGeom>
          <a:solidFill>
            <a:srgbClr val="F5B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387F77-5CC6-4ABD-8E60-E04131307297}"/>
              </a:ext>
            </a:extLst>
          </p:cNvPr>
          <p:cNvSpPr>
            <a:spLocks noGrp="1"/>
          </p:cNvSpPr>
          <p:nvPr/>
        </p:nvSpPr>
        <p:spPr>
          <a:xfrm>
            <a:off x="7010400" y="1466850"/>
            <a:ext cx="2076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46051" lnSpcReduction="10000"/>
          </a:bodyPr>
          <a:lstStyle/>
          <a:p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3. API Processing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F79366-8F5F-447F-9C6C-86D17A7713C1}"/>
              </a:ext>
            </a:extLst>
          </p:cNvPr>
          <p:cNvSpPr>
            <a:spLocks noGrp="1"/>
          </p:cNvSpPr>
          <p:nvPr/>
        </p:nvSpPr>
        <p:spPr>
          <a:xfrm>
            <a:off x="7010400" y="1714500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56714" lnSpcReduction="10000"/>
          </a:bodyPr>
          <a:lstStyle/>
          <a:p>
            <a:pPr algn="l">
              <a:defRPr sz="975" b="0">
                <a:solidFill>
                  <a:srgbClr val="B9C1D3"/>
                </a:solidFill>
              </a:defRPr>
            </a:pPr>
            <a:r>
              <a:rPr sz="975" b="0">
                <a:solidFill>
                  <a:srgbClr val="B9C1D3"/>
                </a:solidFill>
              </a:rPr>
              <a:t>Express routes send requests to controllers and MongoDB models.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FE9DC408-BB59-40E1-9B6E-B8D25AF04757}"/>
              </a:ext>
            </a:extLst>
          </p:cNvPr>
          <p:cNvSpPr>
            <a:spLocks noGrp="1"/>
          </p:cNvSpPr>
          <p:nvPr/>
        </p:nvSpPr>
        <p:spPr>
          <a:xfrm>
            <a:off x="9372600" y="1524000"/>
            <a:ext cx="666750" cy="381000"/>
          </a:xfrm>
          <a:prstGeom prst="rightArrow">
            <a:avLst/>
          </a:prstGeom>
          <a:solidFill>
            <a:srgbClr val="1FC1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4F6205F-A46C-468D-8E16-B5C9CCEA1E3A}"/>
              </a:ext>
            </a:extLst>
          </p:cNvPr>
          <p:cNvSpPr>
            <a:spLocks noGrp="1"/>
          </p:cNvSpPr>
          <p:nvPr/>
        </p:nvSpPr>
        <p:spPr>
          <a:xfrm>
            <a:off x="10134600" y="1333500"/>
            <a:ext cx="1504950" cy="838200"/>
          </a:xfrm>
          <a:prstGeom prst="roundRect">
            <a:avLst>
              <a:gd name="adj" fmla="val 9091"/>
            </a:avLst>
          </a:prstGeom>
          <a:solidFill>
            <a:srgbClr val="1A2438"/>
          </a:solidFill>
          <a:ln w="11430">
            <a:solidFill>
              <a:srgbClr val="31415E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34F52B-29B5-4C56-873B-97FF3988B2BA}"/>
              </a:ext>
            </a:extLst>
          </p:cNvPr>
          <p:cNvSpPr>
            <a:spLocks noGrp="1"/>
          </p:cNvSpPr>
          <p:nvPr/>
        </p:nvSpPr>
        <p:spPr>
          <a:xfrm>
            <a:off x="10134600" y="1333500"/>
            <a:ext cx="1504950" cy="57150"/>
          </a:xfrm>
          <a:prstGeom prst="rect">
            <a:avLst/>
          </a:prstGeom>
          <a:solidFill>
            <a:srgbClr val="EF5B6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9E6A62C-6923-47F6-A199-F2A7B0031DE5}"/>
              </a:ext>
            </a:extLst>
          </p:cNvPr>
          <p:cNvSpPr>
            <a:spLocks noGrp="1"/>
          </p:cNvSpPr>
          <p:nvPr/>
        </p:nvSpPr>
        <p:spPr>
          <a:xfrm>
            <a:off x="10287000" y="1466850"/>
            <a:ext cx="1200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46051" lnSpcReduction="10000"/>
          </a:bodyPr>
          <a:lstStyle/>
          <a:p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4. AI / Mapping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1C8AB85-0D00-4BC2-88A5-338E93FA95D6}"/>
              </a:ext>
            </a:extLst>
          </p:cNvPr>
          <p:cNvSpPr>
            <a:spLocks noGrp="1"/>
          </p:cNvSpPr>
          <p:nvPr/>
        </p:nvSpPr>
        <p:spPr>
          <a:xfrm>
            <a:off x="10287000" y="1714500"/>
            <a:ext cx="1200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63504" lnSpcReduction="10000"/>
          </a:bodyPr>
          <a:lstStyle/>
          <a:p>
            <a:pPr algn="l">
              <a:defRPr sz="975" b="0">
                <a:solidFill>
                  <a:srgbClr val="B9C1D3"/>
                </a:solidFill>
              </a:defRPr>
            </a:pPr>
            <a:r>
              <a:rPr sz="975" b="0">
                <a:solidFill>
                  <a:srgbClr val="B9C1D3"/>
                </a:solidFill>
              </a:rPr>
              <a:t>Groq prompts analyze waste or allocate drivers; OSRM builds paths.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976DB42F-BAF4-4620-A8AD-F576F65BD39B}"/>
              </a:ext>
            </a:extLst>
          </p:cNvPr>
          <p:cNvSpPr>
            <a:spLocks noGrp="1"/>
          </p:cNvSpPr>
          <p:nvPr/>
        </p:nvSpPr>
        <p:spPr>
          <a:xfrm>
            <a:off x="5619750" y="2571750"/>
            <a:ext cx="952500" cy="419100"/>
          </a:xfrm>
          <a:prstGeom prst="rightArrow">
            <a:avLst/>
          </a:prstGeom>
          <a:solidFill>
            <a:srgbClr val="1FC1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50DFE16-1E5F-42F2-933E-1188BDA0ACB9}"/>
              </a:ext>
            </a:extLst>
          </p:cNvPr>
          <p:cNvSpPr>
            <a:spLocks noGrp="1"/>
          </p:cNvSpPr>
          <p:nvPr/>
        </p:nvSpPr>
        <p:spPr>
          <a:xfrm>
            <a:off x="4762500" y="26289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54311" lnSpcReduction="10000"/>
          </a:bodyPr>
          <a:lstStyle/>
          <a:p>
            <a:pPr algn="ctr">
              <a:defRPr sz="1050" b="1">
                <a:solidFill>
                  <a:srgbClr val="1FC18A"/>
                </a:solidFill>
              </a:defRPr>
            </a:pPr>
            <a:r>
              <a:rPr sz="1050" b="1">
                <a:solidFill>
                  <a:srgbClr val="1FC18A"/>
                </a:solidFill>
              </a:rPr>
              <a:t>Operational Data Loop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B61F3FB-75A9-486D-A4E2-654B38246201}"/>
              </a:ext>
            </a:extLst>
          </p:cNvPr>
          <p:cNvSpPr>
            <a:spLocks noGrp="1"/>
          </p:cNvSpPr>
          <p:nvPr/>
        </p:nvSpPr>
        <p:spPr>
          <a:xfrm>
            <a:off x="1009650" y="3333750"/>
            <a:ext cx="2667000" cy="838200"/>
          </a:xfrm>
          <a:prstGeom prst="roundRect">
            <a:avLst>
              <a:gd name="adj" fmla="val 9091"/>
            </a:avLst>
          </a:prstGeom>
          <a:solidFill>
            <a:srgbClr val="1A2438"/>
          </a:solidFill>
          <a:ln w="11430">
            <a:solidFill>
              <a:srgbClr val="31415E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0AD36EF-F158-4268-8E7C-0C455CEC747C}"/>
              </a:ext>
            </a:extLst>
          </p:cNvPr>
          <p:cNvSpPr>
            <a:spLocks noGrp="1"/>
          </p:cNvSpPr>
          <p:nvPr/>
        </p:nvSpPr>
        <p:spPr>
          <a:xfrm>
            <a:off x="1009650" y="3333750"/>
            <a:ext cx="2667000" cy="57150"/>
          </a:xfrm>
          <a:prstGeom prst="rect">
            <a:avLst/>
          </a:prstGeom>
          <a:solidFill>
            <a:srgbClr val="1FC1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D182E77-677D-42E0-A986-B669C01ACBE9}"/>
              </a:ext>
            </a:extLst>
          </p:cNvPr>
          <p:cNvSpPr>
            <a:spLocks noGrp="1"/>
          </p:cNvSpPr>
          <p:nvPr/>
        </p:nvSpPr>
        <p:spPr>
          <a:xfrm>
            <a:off x="1162050" y="3467100"/>
            <a:ext cx="236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46051" lnSpcReduction="10000"/>
          </a:bodyPr>
          <a:lstStyle/>
          <a:p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5. Database Update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3154740-F6FE-44A3-8416-853A2AE142F5}"/>
              </a:ext>
            </a:extLst>
          </p:cNvPr>
          <p:cNvSpPr>
            <a:spLocks noGrp="1"/>
          </p:cNvSpPr>
          <p:nvPr/>
        </p:nvSpPr>
        <p:spPr>
          <a:xfrm>
            <a:off x="1162050" y="3714750"/>
            <a:ext cx="2362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73904" lnSpcReduction="10000"/>
          </a:bodyPr>
          <a:lstStyle/>
          <a:p>
            <a:pPr algn="l">
              <a:defRPr sz="975" b="0">
                <a:solidFill>
                  <a:srgbClr val="B9C1D3"/>
                </a:solidFill>
              </a:defRPr>
            </a:pPr>
            <a:r>
              <a:rPr sz="975" b="0">
                <a:solidFill>
                  <a:srgbClr val="B9C1D3"/>
                </a:solidFill>
              </a:rPr>
              <a:t>Waste stats, tasks, drivers, and complaints are stored or updated.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5D2BFCD-DE9D-41DD-9555-D0B5E7EC8FBB}"/>
              </a:ext>
            </a:extLst>
          </p:cNvPr>
          <p:cNvSpPr>
            <a:spLocks noGrp="1"/>
          </p:cNvSpPr>
          <p:nvPr/>
        </p:nvSpPr>
        <p:spPr>
          <a:xfrm>
            <a:off x="4762500" y="3333750"/>
            <a:ext cx="2667000" cy="838200"/>
          </a:xfrm>
          <a:prstGeom prst="roundRect">
            <a:avLst>
              <a:gd name="adj" fmla="val 9091"/>
            </a:avLst>
          </a:prstGeom>
          <a:solidFill>
            <a:srgbClr val="1A2438"/>
          </a:solidFill>
          <a:ln w="11430">
            <a:solidFill>
              <a:srgbClr val="31415E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5C10A3E-7C5A-4A7B-A5BA-6E24372040F1}"/>
              </a:ext>
            </a:extLst>
          </p:cNvPr>
          <p:cNvSpPr>
            <a:spLocks noGrp="1"/>
          </p:cNvSpPr>
          <p:nvPr/>
        </p:nvSpPr>
        <p:spPr>
          <a:xfrm>
            <a:off x="4762500" y="3333750"/>
            <a:ext cx="2667000" cy="57150"/>
          </a:xfrm>
          <a:prstGeom prst="rect">
            <a:avLst/>
          </a:prstGeom>
          <a:solidFill>
            <a:srgbClr val="41B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7634C82-B93D-442C-98F8-FB6AE21D5E58}"/>
              </a:ext>
            </a:extLst>
          </p:cNvPr>
          <p:cNvSpPr>
            <a:spLocks noGrp="1"/>
          </p:cNvSpPr>
          <p:nvPr/>
        </p:nvSpPr>
        <p:spPr>
          <a:xfrm>
            <a:off x="4914900" y="3467100"/>
            <a:ext cx="236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46051" lnSpcReduction="10000"/>
          </a:bodyPr>
          <a:lstStyle/>
          <a:p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6. Dashboard Analytics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98AC884-A330-4AE0-B3CB-6A8E0FDEB395}"/>
              </a:ext>
            </a:extLst>
          </p:cNvPr>
          <p:cNvSpPr>
            <a:spLocks noGrp="1"/>
          </p:cNvSpPr>
          <p:nvPr/>
        </p:nvSpPr>
        <p:spPr>
          <a:xfrm>
            <a:off x="4914900" y="3714750"/>
            <a:ext cx="2362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90488" lnSpcReduction="20000"/>
          </a:bodyPr>
          <a:lstStyle/>
          <a:p>
            <a:pPr algn="l">
              <a:defRPr sz="975" b="0">
                <a:solidFill>
                  <a:srgbClr val="B9C1D3"/>
                </a:solidFill>
              </a:defRPr>
            </a:pPr>
            <a:r>
              <a:rPr sz="975" b="0">
                <a:solidFill>
                  <a:srgbClr val="B9C1D3"/>
                </a:solidFill>
              </a:rPr>
              <a:t>KPIs and charts refresh for administrators and users.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0F5C433-FB91-4561-8CED-BA1F5B141867}"/>
              </a:ext>
            </a:extLst>
          </p:cNvPr>
          <p:cNvSpPr>
            <a:spLocks noGrp="1"/>
          </p:cNvSpPr>
          <p:nvPr/>
        </p:nvSpPr>
        <p:spPr>
          <a:xfrm>
            <a:off x="8515350" y="3333750"/>
            <a:ext cx="2667000" cy="838200"/>
          </a:xfrm>
          <a:prstGeom prst="roundRect">
            <a:avLst>
              <a:gd name="adj" fmla="val 9091"/>
            </a:avLst>
          </a:prstGeom>
          <a:solidFill>
            <a:srgbClr val="1A2438"/>
          </a:solidFill>
          <a:ln w="11430">
            <a:solidFill>
              <a:srgbClr val="31415E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638EE64-1C89-40D1-9D06-75C96ADC88F8}"/>
              </a:ext>
            </a:extLst>
          </p:cNvPr>
          <p:cNvSpPr>
            <a:spLocks noGrp="1"/>
          </p:cNvSpPr>
          <p:nvPr/>
        </p:nvSpPr>
        <p:spPr>
          <a:xfrm>
            <a:off x="8515350" y="3333750"/>
            <a:ext cx="2667000" cy="57150"/>
          </a:xfrm>
          <a:prstGeom prst="rect">
            <a:avLst/>
          </a:prstGeom>
          <a:solidFill>
            <a:srgbClr val="F5B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5D2E01E-D893-41AB-BCE8-2C9EABBD907A}"/>
              </a:ext>
            </a:extLst>
          </p:cNvPr>
          <p:cNvSpPr>
            <a:spLocks noGrp="1"/>
          </p:cNvSpPr>
          <p:nvPr/>
        </p:nvSpPr>
        <p:spPr>
          <a:xfrm>
            <a:off x="8667750" y="3467100"/>
            <a:ext cx="236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46051" lnSpcReduction="10000"/>
          </a:bodyPr>
          <a:lstStyle/>
          <a:p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7. Action Output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8B819DB-BF60-4822-907A-FB2F9B9E4F0C}"/>
              </a:ext>
            </a:extLst>
          </p:cNvPr>
          <p:cNvSpPr>
            <a:spLocks noGrp="1"/>
          </p:cNvSpPr>
          <p:nvPr/>
        </p:nvSpPr>
        <p:spPr>
          <a:xfrm>
            <a:off x="8667750" y="3714750"/>
            <a:ext cx="2362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72319" lnSpcReduction="10000"/>
          </a:bodyPr>
          <a:lstStyle/>
          <a:p>
            <a:pPr algn="l">
              <a:defRPr sz="975" b="0">
                <a:solidFill>
                  <a:srgbClr val="B9C1D3"/>
                </a:solidFill>
              </a:defRPr>
            </a:pPr>
            <a:r>
              <a:rPr sz="975" b="0">
                <a:solidFill>
                  <a:srgbClr val="B9C1D3"/>
                </a:solidFill>
              </a:rPr>
              <a:t>Routes, complaint replies, and collection tasks are shown in the UI.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67CD6E7C-A17F-4F58-90A7-84DA52088BAE}"/>
              </a:ext>
            </a:extLst>
          </p:cNvPr>
          <p:cNvSpPr>
            <a:spLocks noGrp="1"/>
          </p:cNvSpPr>
          <p:nvPr/>
        </p:nvSpPr>
        <p:spPr>
          <a:xfrm>
            <a:off x="1295400" y="4781550"/>
            <a:ext cx="9601200" cy="1257300"/>
          </a:xfrm>
          <a:prstGeom prst="roundRect">
            <a:avLst>
              <a:gd name="adj" fmla="val 6061"/>
            </a:avLst>
          </a:prstGeom>
          <a:solidFill>
            <a:srgbClr val="1A2438"/>
          </a:solidFill>
          <a:ln w="11430">
            <a:solidFill>
              <a:srgbClr val="31415E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69BA99A-D106-4577-ADEC-87E2477DB4E6}"/>
              </a:ext>
            </a:extLst>
          </p:cNvPr>
          <p:cNvSpPr>
            <a:spLocks noGrp="1"/>
          </p:cNvSpPr>
          <p:nvPr/>
        </p:nvSpPr>
        <p:spPr>
          <a:xfrm>
            <a:off x="1295400" y="4781550"/>
            <a:ext cx="76200" cy="1257300"/>
          </a:xfrm>
          <a:prstGeom prst="rect">
            <a:avLst/>
          </a:prstGeom>
          <a:solidFill>
            <a:srgbClr val="1FC1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794ED47-9924-4995-B37F-6F32E85060D2}"/>
              </a:ext>
            </a:extLst>
          </p:cNvPr>
          <p:cNvSpPr>
            <a:spLocks noGrp="1"/>
          </p:cNvSpPr>
          <p:nvPr/>
        </p:nvSpPr>
        <p:spPr>
          <a:xfrm>
            <a:off x="1504950" y="4953000"/>
            <a:ext cx="9296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56652" lnSpcReduction="10000"/>
          </a:bodyPr>
          <a:lstStyle/>
          <a:p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Workflow Summary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F8B7F0F-6313-4199-BC36-CC57519DEB69}"/>
              </a:ext>
            </a:extLst>
          </p:cNvPr>
          <p:cNvSpPr>
            <a:spLocks noGrp="1"/>
          </p:cNvSpPr>
          <p:nvPr/>
        </p:nvSpPr>
        <p:spPr>
          <a:xfrm>
            <a:off x="1524000" y="5334000"/>
            <a:ext cx="92202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56320" lnSpcReduction="10000"/>
          </a:bodyPr>
          <a:lstStyle/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Input enters through UI screens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Backend validates and processes data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AI prompts support classification and driver allocation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Outputs return to analytics, tasks, and route pages</a:t>
            </a:r>
          </a:p>
        </p:txBody>
      </p:sp>
    </p:spTree>
    <p:extLst>
      <p:ext uri="{BB962C8B-B14F-4D97-AF65-F5344CB8AC3E}">
        <p14:creationId xmlns:p14="http://schemas.microsoft.com/office/powerpoint/2010/main" val="1726472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8CB5A5BE-3F39-457D-A3A8-86F73ACE639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533268-F8E7-4348-BC36-00C6409CD9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BB0746-EBAA-4B3C-B639-EF7126C32F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424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B49E43-41D2-4374-A27A-8E607E738651}"/>
              </a:ext>
            </a:extLst>
          </p:cNvPr>
          <p:cNvSpPr>
            <a:spLocks noGrp="1"/>
          </p:cNvSpPr>
          <p:nvPr/>
        </p:nvSpPr>
        <p:spPr>
          <a:xfrm>
            <a:off x="552450" y="171450"/>
            <a:ext cx="8001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95721" lnSpcReduction="10000"/>
          </a:bodyPr>
          <a:lstStyle/>
          <a:p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Front-End View Of The Web Application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555020-83DE-4288-BC72-D22D183784DC}"/>
              </a:ext>
            </a:extLst>
          </p:cNvPr>
          <p:cNvSpPr>
            <a:spLocks noGrp="1"/>
          </p:cNvSpPr>
          <p:nvPr/>
        </p:nvSpPr>
        <p:spPr>
          <a:xfrm>
            <a:off x="10382250" y="20955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81920" lnSpcReduction="10000"/>
          </a:bodyPr>
          <a:lstStyle/>
          <a:p>
            <a:pPr algn="r">
              <a:defRPr sz="1050" b="1">
                <a:solidFill>
                  <a:srgbClr val="1FC18A"/>
                </a:solidFill>
              </a:defRPr>
            </a:pPr>
            <a:r>
              <a:rPr sz="1050" b="1">
                <a:solidFill>
                  <a:srgbClr val="1FC18A"/>
                </a:solidFill>
              </a:rPr>
              <a:t>Slide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1A1F17-6D56-45A3-8ADA-305EF018DB4A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1087100" cy="19050"/>
          </a:xfrm>
          <a:prstGeom prst="rect">
            <a:avLst/>
          </a:prstGeom>
          <a:solidFill>
            <a:srgbClr val="1FC1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D4ED81-2650-4B8D-BBCD-1D5307948E46}"/>
              </a:ext>
            </a:extLst>
          </p:cNvPr>
          <p:cNvSpPr>
            <a:spLocks noGrp="1"/>
          </p:cNvSpPr>
          <p:nvPr/>
        </p:nvSpPr>
        <p:spPr>
          <a:xfrm>
            <a:off x="552450" y="100965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73036" lnSpcReduction="10000"/>
          </a:bodyPr>
          <a:lstStyle/>
          <a:p>
            <a:pPr algn="l">
              <a:defRPr sz="1125" b="0">
                <a:solidFill>
                  <a:srgbClr val="B9C1D3"/>
                </a:solidFill>
              </a:defRPr>
            </a:pPr>
            <a:r>
              <a:rPr sz="1125" b="0">
                <a:solidFill>
                  <a:srgbClr val="B9C1D3"/>
                </a:solidFill>
              </a:rPr>
              <a:t>Actual screenshots supplied for the AIWaste Management App UI.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1503009"/>
            <a:ext cx="2857500" cy="169933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rcRect l="3673" r="3673"/>
          <a:stretch>
            <a:fillRect/>
          </a:stretch>
        </p:blipFill>
        <p:spPr>
          <a:xfrm>
            <a:off x="3619500" y="1447800"/>
            <a:ext cx="3905250" cy="18097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rcRect l="3268" r="3268"/>
          <a:stretch>
            <a:fillRect/>
          </a:stretch>
        </p:blipFill>
        <p:spPr>
          <a:xfrm>
            <a:off x="7734300" y="1447800"/>
            <a:ext cx="3905250" cy="18097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rcRect t="19896" b="19896"/>
          <a:stretch>
            <a:fillRect/>
          </a:stretch>
        </p:blipFill>
        <p:spPr>
          <a:xfrm>
            <a:off x="2095500" y="3562350"/>
            <a:ext cx="8001000" cy="20955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34059CC-657F-4B18-8B55-4F0073B584CE}"/>
              </a:ext>
            </a:extLst>
          </p:cNvPr>
          <p:cNvSpPr>
            <a:spLocks noGrp="1"/>
          </p:cNvSpPr>
          <p:nvPr/>
        </p:nvSpPr>
        <p:spPr>
          <a:xfrm>
            <a:off x="552450" y="32766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57912" lnSpcReduction="10000"/>
          </a:bodyPr>
          <a:lstStyle/>
          <a:p>
            <a:pPr algn="l">
              <a:defRPr sz="975" b="0">
                <a:solidFill>
                  <a:srgbClr val="1FC18A"/>
                </a:solidFill>
              </a:defRPr>
            </a:pPr>
            <a:r>
              <a:rPr sz="975" b="0">
                <a:solidFill>
                  <a:srgbClr val="1FC18A"/>
                </a:solidFill>
              </a:rPr>
              <a:t>Login Screen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1D5CFF-747F-4D87-9736-9CC88081FF62}"/>
              </a:ext>
            </a:extLst>
          </p:cNvPr>
          <p:cNvSpPr>
            <a:spLocks noGrp="1"/>
          </p:cNvSpPr>
          <p:nvPr/>
        </p:nvSpPr>
        <p:spPr>
          <a:xfrm>
            <a:off x="3619500" y="32766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57912" lnSpcReduction="10000"/>
          </a:bodyPr>
          <a:lstStyle/>
          <a:p>
            <a:pPr algn="l">
              <a:defRPr sz="975" b="0">
                <a:solidFill>
                  <a:srgbClr val="1FC18A"/>
                </a:solidFill>
              </a:defRPr>
            </a:pPr>
            <a:r>
              <a:rPr sz="975" b="0">
                <a:solidFill>
                  <a:srgbClr val="1FC18A"/>
                </a:solidFill>
              </a:rPr>
              <a:t>Dashboard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06DE73-CAED-4FB2-9E73-80D61293FEBF}"/>
              </a:ext>
            </a:extLst>
          </p:cNvPr>
          <p:cNvSpPr>
            <a:spLocks noGrp="1"/>
          </p:cNvSpPr>
          <p:nvPr/>
        </p:nvSpPr>
        <p:spPr>
          <a:xfrm>
            <a:off x="7734300" y="32766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57912" lnSpcReduction="10000"/>
          </a:bodyPr>
          <a:lstStyle/>
          <a:p>
            <a:pPr algn="l">
              <a:defRPr sz="975" b="0">
                <a:solidFill>
                  <a:srgbClr val="1FC18A"/>
                </a:solidFill>
              </a:defRPr>
            </a:pPr>
            <a:r>
              <a:rPr sz="975" b="0">
                <a:solidFill>
                  <a:srgbClr val="1FC18A"/>
                </a:solidFill>
              </a:rPr>
              <a:t>Analytics Page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7406CB-CCB0-4F2C-A6FE-1852A34FC780}"/>
              </a:ext>
            </a:extLst>
          </p:cNvPr>
          <p:cNvSpPr>
            <a:spLocks noGrp="1"/>
          </p:cNvSpPr>
          <p:nvPr/>
        </p:nvSpPr>
        <p:spPr>
          <a:xfrm>
            <a:off x="2095500" y="56959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57912" lnSpcReduction="10000"/>
          </a:bodyPr>
          <a:lstStyle/>
          <a:p>
            <a:pPr algn="l">
              <a:defRPr sz="975" b="0">
                <a:solidFill>
                  <a:srgbClr val="1FC18A"/>
                </a:solidFill>
              </a:defRPr>
            </a:pPr>
            <a:r>
              <a:rPr sz="975" b="0">
                <a:solidFill>
                  <a:srgbClr val="1FC18A"/>
                </a:solidFill>
              </a:rPr>
              <a:t>Tasks And Driver Registration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AC417B8-5C56-495B-8BF2-68AA46BA1DE4}"/>
              </a:ext>
            </a:extLst>
          </p:cNvPr>
          <p:cNvSpPr>
            <a:spLocks noGrp="1"/>
          </p:cNvSpPr>
          <p:nvPr/>
        </p:nvSpPr>
        <p:spPr>
          <a:xfrm>
            <a:off x="552450" y="6019800"/>
            <a:ext cx="11049000" cy="266700"/>
          </a:xfrm>
          <a:prstGeom prst="roundRect">
            <a:avLst>
              <a:gd name="adj" fmla="val 28571"/>
            </a:avLst>
          </a:prstGeom>
          <a:solidFill>
            <a:srgbClr val="202C44"/>
          </a:solidFill>
          <a:ln w="9525">
            <a:solidFill>
              <a:srgbClr val="31415E"/>
            </a:solidFill>
            <a:prstDash val="solid"/>
          </a:ln>
        </p:spPr>
        <p:txBody>
          <a:bodyPr lIns="95250" tIns="76200" rIns="95250" bIns="76200" anchor="ctr">
            <a:normAutofit fontScale="43036" lnSpcReduction="20000"/>
          </a:bodyPr>
          <a:lstStyle/>
          <a:p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Application URL (local demo): http://localhost:5173  |  Backend API: http://localhost:5000/api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CEA748-DAD4-4C2A-943F-8B2DE944CAA7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1104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52184" lnSpcReduction="20000"/>
          </a:bodyPr>
          <a:lstStyle/>
          <a:p>
            <a:pPr algn="l">
              <a:defRPr sz="825" b="0">
                <a:solidFill>
                  <a:srgbClr val="A8B2C7"/>
                </a:solidFill>
              </a:defRPr>
            </a:pPr>
            <a:endParaRPr sz="825" b="0" dirty="0">
              <a:solidFill>
                <a:srgbClr val="A8B2C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1578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8CB5A5BE-3F39-457D-A3A8-86F73ACE639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1F7D44-0821-4924-8EA1-17A7A6AB6C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A7DA81-3FF8-47B9-BE4E-7A70738625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424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BA2CCE-0C28-4C91-9FD6-5BA330E71DB5}"/>
              </a:ext>
            </a:extLst>
          </p:cNvPr>
          <p:cNvSpPr>
            <a:spLocks noGrp="1"/>
          </p:cNvSpPr>
          <p:nvPr/>
        </p:nvSpPr>
        <p:spPr>
          <a:xfrm>
            <a:off x="552450" y="171450"/>
            <a:ext cx="8001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95721" lnSpcReduction="10000"/>
          </a:bodyPr>
          <a:lstStyle/>
          <a:p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Proof Of Prompts Generating Codes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876EB9-10FE-4520-9BA7-E561A85B3EBF}"/>
              </a:ext>
            </a:extLst>
          </p:cNvPr>
          <p:cNvSpPr>
            <a:spLocks noGrp="1"/>
          </p:cNvSpPr>
          <p:nvPr/>
        </p:nvSpPr>
        <p:spPr>
          <a:xfrm>
            <a:off x="10382250" y="20955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81920" lnSpcReduction="10000"/>
          </a:bodyPr>
          <a:lstStyle/>
          <a:p>
            <a:pPr algn="r">
              <a:defRPr sz="1050" b="1">
                <a:solidFill>
                  <a:srgbClr val="1FC18A"/>
                </a:solidFill>
              </a:defRPr>
            </a:pPr>
            <a:r>
              <a:rPr sz="1050" b="1">
                <a:solidFill>
                  <a:srgbClr val="1FC18A"/>
                </a:solidFill>
              </a:rPr>
              <a:t>Slide 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590904-EB22-446A-9E53-F6C66BC1C68C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1087100" cy="19050"/>
          </a:xfrm>
          <a:prstGeom prst="rect">
            <a:avLst/>
          </a:prstGeom>
          <a:solidFill>
            <a:srgbClr val="1FC1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 l="9325" r="9325"/>
          <a:stretch>
            <a:fillRect/>
          </a:stretch>
        </p:blipFill>
        <p:spPr>
          <a:xfrm>
            <a:off x="552450" y="1200150"/>
            <a:ext cx="6191250" cy="39052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048500" y="1523893"/>
            <a:ext cx="1905000" cy="3257764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DB13A0B-9D70-4533-B67A-C3780DC361A4}"/>
              </a:ext>
            </a:extLst>
          </p:cNvPr>
          <p:cNvSpPr>
            <a:spLocks noGrp="1"/>
          </p:cNvSpPr>
          <p:nvPr/>
        </p:nvSpPr>
        <p:spPr>
          <a:xfrm>
            <a:off x="9124950" y="1200150"/>
            <a:ext cx="2514600" cy="3905250"/>
          </a:xfrm>
          <a:prstGeom prst="roundRect">
            <a:avLst>
              <a:gd name="adj" fmla="val 3030"/>
            </a:avLst>
          </a:prstGeom>
          <a:solidFill>
            <a:srgbClr val="1A2438"/>
          </a:solidFill>
          <a:ln w="11430">
            <a:solidFill>
              <a:srgbClr val="31415E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B747D3-D6E2-41AD-9F82-148A78BB6D5E}"/>
              </a:ext>
            </a:extLst>
          </p:cNvPr>
          <p:cNvSpPr>
            <a:spLocks noGrp="1"/>
          </p:cNvSpPr>
          <p:nvPr/>
        </p:nvSpPr>
        <p:spPr>
          <a:xfrm>
            <a:off x="9124950" y="1200150"/>
            <a:ext cx="76200" cy="3905250"/>
          </a:xfrm>
          <a:prstGeom prst="rect">
            <a:avLst/>
          </a:prstGeom>
          <a:solidFill>
            <a:srgbClr val="1FC1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E86848-7D03-4750-95DC-0B83D24389D0}"/>
              </a:ext>
            </a:extLst>
          </p:cNvPr>
          <p:cNvSpPr>
            <a:spLocks noGrp="1"/>
          </p:cNvSpPr>
          <p:nvPr/>
        </p:nvSpPr>
        <p:spPr>
          <a:xfrm>
            <a:off x="9334500" y="1371600"/>
            <a:ext cx="2209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56652" lnSpcReduction="10000"/>
          </a:bodyPr>
          <a:lstStyle/>
          <a:p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Proof From Development Screens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13A7BA-907F-4409-AF29-A14E3AA5D4C7}"/>
              </a:ext>
            </a:extLst>
          </p:cNvPr>
          <p:cNvSpPr>
            <a:spLocks noGrp="1"/>
          </p:cNvSpPr>
          <p:nvPr/>
        </p:nvSpPr>
        <p:spPr>
          <a:xfrm>
            <a:off x="9353550" y="1752600"/>
            <a:ext cx="2133600" cy="3219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/>
          </a:bodyPr>
          <a:lstStyle/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Editor screenshot shows frontend pages such as Analytics.jsx, Complaints.jsx, Tasks.jsx, RoutesPage.jsx, Login.jsx, and Register.jsx.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Terminal shows Vite local server output and active coding workflow.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AI assistant screenshot shows prompt-driven implementation planning for driver allocation and OSRM routing.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870402-BBDD-41C2-9A30-48D6B9DBCE7D}"/>
              </a:ext>
            </a:extLst>
          </p:cNvPr>
          <p:cNvSpPr>
            <a:spLocks noGrp="1"/>
          </p:cNvSpPr>
          <p:nvPr/>
        </p:nvSpPr>
        <p:spPr>
          <a:xfrm>
            <a:off x="762000" y="5391150"/>
            <a:ext cx="10782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56652" lnSpcReduction="20000"/>
          </a:bodyPr>
          <a:lstStyle/>
          <a:p>
            <a:pPr algn="l">
              <a:defRPr sz="1500" b="1">
                <a:solidFill>
                  <a:srgbClr val="F8FAFC"/>
                </a:solidFill>
              </a:defRPr>
            </a:pPr>
            <a:endParaRPr sz="1500" b="1" dirty="0">
              <a:solidFill>
                <a:srgbClr val="F8FAFC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1A0225-BE97-4E94-94CA-54D477733C18}"/>
              </a:ext>
            </a:extLst>
          </p:cNvPr>
          <p:cNvSpPr>
            <a:spLocks noGrp="1"/>
          </p:cNvSpPr>
          <p:nvPr/>
        </p:nvSpPr>
        <p:spPr>
          <a:xfrm>
            <a:off x="1209675" y="5781675"/>
            <a:ext cx="10706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94133"/>
          </a:bodyPr>
          <a:lstStyle/>
          <a:p>
            <a:pPr algn="l">
              <a:defRPr sz="1200" b="0">
                <a:solidFill>
                  <a:srgbClr val="B9C1D3"/>
                </a:solidFill>
              </a:defRPr>
            </a:pPr>
            <a:endParaRPr sz="1200" b="0" dirty="0">
              <a:solidFill>
                <a:srgbClr val="B9C1D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699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8CB5A5BE-3F39-457D-A3A8-86F73ACE639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A4BD1C-7B41-4AC0-A224-E934F1D811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585459-7846-49D7-BAB6-0E77C6E610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424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5BDC73-98C8-487C-8CE6-1D1E7E06B878}"/>
              </a:ext>
            </a:extLst>
          </p:cNvPr>
          <p:cNvSpPr>
            <a:spLocks noGrp="1"/>
          </p:cNvSpPr>
          <p:nvPr/>
        </p:nvSpPr>
        <p:spPr>
          <a:xfrm>
            <a:off x="552450" y="171450"/>
            <a:ext cx="8001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95721" lnSpcReduction="10000"/>
          </a:bodyPr>
          <a:lstStyle/>
          <a:p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D6278D-EB89-4928-BB1C-BC463EA49B96}"/>
              </a:ext>
            </a:extLst>
          </p:cNvPr>
          <p:cNvSpPr>
            <a:spLocks noGrp="1"/>
          </p:cNvSpPr>
          <p:nvPr/>
        </p:nvSpPr>
        <p:spPr>
          <a:xfrm>
            <a:off x="10382250" y="20955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81920" lnSpcReduction="10000"/>
          </a:bodyPr>
          <a:lstStyle/>
          <a:p>
            <a:pPr algn="r">
              <a:defRPr sz="1050" b="1">
                <a:solidFill>
                  <a:srgbClr val="1FC18A"/>
                </a:solidFill>
              </a:defRPr>
            </a:pPr>
            <a:r>
              <a:rPr sz="1050" b="1">
                <a:solidFill>
                  <a:srgbClr val="1FC18A"/>
                </a:solidFill>
              </a:rPr>
              <a:t>Slide 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383AB6-A9E2-4327-9366-3235313887DC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1087100" cy="19050"/>
          </a:xfrm>
          <a:prstGeom prst="rect">
            <a:avLst/>
          </a:prstGeom>
          <a:solidFill>
            <a:srgbClr val="1FC1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44E5CD2-9C8D-4A25-A803-2A9222CDB199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3619500"/>
          </a:xfrm>
          <a:prstGeom prst="roundRect">
            <a:avLst>
              <a:gd name="adj" fmla="val 2105"/>
            </a:avLst>
          </a:prstGeom>
          <a:solidFill>
            <a:srgbClr val="1A2438"/>
          </a:solidFill>
          <a:ln w="11430">
            <a:solidFill>
              <a:srgbClr val="31415E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ACEC3A-2498-41A5-83C1-906E71A23931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76200" cy="3619500"/>
          </a:xfrm>
          <a:prstGeom prst="rect">
            <a:avLst/>
          </a:prstGeom>
          <a:solidFill>
            <a:srgbClr val="1FC1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AF4B5D-7B54-437F-9E6B-63B7562B2974}"/>
              </a:ext>
            </a:extLst>
          </p:cNvPr>
          <p:cNvSpPr>
            <a:spLocks noGrp="1"/>
          </p:cNvSpPr>
          <p:nvPr/>
        </p:nvSpPr>
        <p:spPr>
          <a:xfrm>
            <a:off x="762000" y="1371600"/>
            <a:ext cx="3695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56652" lnSpcReduction="10000"/>
          </a:bodyPr>
          <a:lstStyle/>
          <a:p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Project References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DAE5A9-BEE7-40F0-9167-0EDB2AA8D482}"/>
              </a:ext>
            </a:extLst>
          </p:cNvPr>
          <p:cNvSpPr>
            <a:spLocks noGrp="1"/>
          </p:cNvSpPr>
          <p:nvPr/>
        </p:nvSpPr>
        <p:spPr>
          <a:xfrm>
            <a:off x="781050" y="1752600"/>
            <a:ext cx="3619500" cy="2933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/>
          </a:bodyPr>
          <a:lstStyle/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Express.js documentation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Mongoose and MongoDB documentation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Vite and React frontend structure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OSRM routing API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OpenStreetMap Nominatim geocoding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Groq SDK and supported model calls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2FE39AF-9298-4FFA-9CCD-C1D0CE96AD5B}"/>
              </a:ext>
            </a:extLst>
          </p:cNvPr>
          <p:cNvSpPr>
            <a:spLocks noGrp="1"/>
          </p:cNvSpPr>
          <p:nvPr/>
        </p:nvSpPr>
        <p:spPr>
          <a:xfrm>
            <a:off x="4838700" y="1200150"/>
            <a:ext cx="3257550" cy="3619500"/>
          </a:xfrm>
          <a:prstGeom prst="roundRect">
            <a:avLst>
              <a:gd name="adj" fmla="val 2339"/>
            </a:avLst>
          </a:prstGeom>
          <a:solidFill>
            <a:srgbClr val="1A2438"/>
          </a:solidFill>
          <a:ln w="11430">
            <a:solidFill>
              <a:srgbClr val="31415E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8843C3-00A2-4215-A6B2-1144A82BBEB6}"/>
              </a:ext>
            </a:extLst>
          </p:cNvPr>
          <p:cNvSpPr>
            <a:spLocks noGrp="1"/>
          </p:cNvSpPr>
          <p:nvPr/>
        </p:nvSpPr>
        <p:spPr>
          <a:xfrm>
            <a:off x="4838700" y="1200150"/>
            <a:ext cx="76200" cy="3619500"/>
          </a:xfrm>
          <a:prstGeom prst="rect">
            <a:avLst/>
          </a:prstGeom>
          <a:solidFill>
            <a:srgbClr val="41B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C51F7F-9710-4B64-9C8D-EB43575F894C}"/>
              </a:ext>
            </a:extLst>
          </p:cNvPr>
          <p:cNvSpPr>
            <a:spLocks noGrp="1"/>
          </p:cNvSpPr>
          <p:nvPr/>
        </p:nvSpPr>
        <p:spPr>
          <a:xfrm>
            <a:off x="5048250" y="1371600"/>
            <a:ext cx="2952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56652" lnSpcReduction="10000"/>
          </a:bodyPr>
          <a:lstStyle/>
          <a:p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AI Tools Used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48A9DE-9BD2-4628-A211-9E7EB12F4D4D}"/>
              </a:ext>
            </a:extLst>
          </p:cNvPr>
          <p:cNvSpPr>
            <a:spLocks noGrp="1"/>
          </p:cNvSpPr>
          <p:nvPr/>
        </p:nvSpPr>
        <p:spPr>
          <a:xfrm>
            <a:off x="5067300" y="1752600"/>
            <a:ext cx="2876550" cy="2933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/>
          </a:bodyPr>
          <a:lstStyle/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Groq SDK in backend for AI / vision requests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Llama 4 Scout model call for waste image analysis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Llama 3.3 70B model call for driver allocation logic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AI coding assistant workflow shown in the shared screenshots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582AB8F-C580-4A12-BAE3-0D2C6FF09D31}"/>
              </a:ext>
            </a:extLst>
          </p:cNvPr>
          <p:cNvSpPr>
            <a:spLocks noGrp="1"/>
          </p:cNvSpPr>
          <p:nvPr/>
        </p:nvSpPr>
        <p:spPr>
          <a:xfrm>
            <a:off x="8382000" y="1200150"/>
            <a:ext cx="3257550" cy="3619500"/>
          </a:xfrm>
          <a:prstGeom prst="roundRect">
            <a:avLst>
              <a:gd name="adj" fmla="val 2339"/>
            </a:avLst>
          </a:prstGeom>
          <a:solidFill>
            <a:srgbClr val="1A2438"/>
          </a:solidFill>
          <a:ln w="11430">
            <a:solidFill>
              <a:srgbClr val="31415E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AFF980-4A58-4ED5-98EB-B8A5341475E8}"/>
              </a:ext>
            </a:extLst>
          </p:cNvPr>
          <p:cNvSpPr>
            <a:spLocks noGrp="1"/>
          </p:cNvSpPr>
          <p:nvPr/>
        </p:nvSpPr>
        <p:spPr>
          <a:xfrm>
            <a:off x="8382000" y="1200150"/>
            <a:ext cx="76200" cy="3619500"/>
          </a:xfrm>
          <a:prstGeom prst="rect">
            <a:avLst/>
          </a:prstGeom>
          <a:solidFill>
            <a:srgbClr val="F5B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9C72C1-7860-4940-8439-DB222989CFCA}"/>
              </a:ext>
            </a:extLst>
          </p:cNvPr>
          <p:cNvSpPr>
            <a:spLocks noGrp="1"/>
          </p:cNvSpPr>
          <p:nvPr/>
        </p:nvSpPr>
        <p:spPr>
          <a:xfrm>
            <a:off x="8591550" y="1371600"/>
            <a:ext cx="2952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 fontScale="56652" lnSpcReduction="10000"/>
          </a:bodyPr>
          <a:lstStyle/>
          <a:p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Files Used For This PPT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06BE06-9266-4ED9-9740-028675CF2D23}"/>
              </a:ext>
            </a:extLst>
          </p:cNvPr>
          <p:cNvSpPr>
            <a:spLocks noGrp="1"/>
          </p:cNvSpPr>
          <p:nvPr/>
        </p:nvSpPr>
        <p:spPr>
          <a:xfrm>
            <a:off x="8610600" y="1752600"/>
            <a:ext cx="2876550" cy="2933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/>
          </a:bodyPr>
          <a:lstStyle/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AI waste Management APP.zip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Airport_AIAC_Presentation-2342.pptx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Website/app screenshots sent in chat</a:t>
            </a:r>
          </a:p>
          <a:p>
            <a:pPr algn="l">
              <a:defRPr sz="1200" b="0">
                <a:solidFill>
                  <a:srgbClr val="B9C1D3"/>
                </a:solidFill>
              </a:defRPr>
            </a:pPr>
            <a:r>
              <a:rPr sz="1200" b="0">
                <a:solidFill>
                  <a:srgbClr val="B9C1D3"/>
                </a:solidFill>
              </a:rPr>
              <a:t>- Frontend and backend source files extracted into the workspace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FAEC983-EBA9-4ED8-8F6A-EF06002AE221}"/>
              </a:ext>
            </a:extLst>
          </p:cNvPr>
          <p:cNvSpPr>
            <a:spLocks noGrp="1"/>
          </p:cNvSpPr>
          <p:nvPr/>
        </p:nvSpPr>
        <p:spPr>
          <a:xfrm>
            <a:off x="552450" y="5429250"/>
            <a:ext cx="110871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>
            <a:normAutofit/>
          </a:bodyPr>
          <a:lstStyle/>
          <a:p>
            <a:pPr algn="l">
              <a:defRPr sz="1350" b="0">
                <a:solidFill>
                  <a:srgbClr val="B9C1D3"/>
                </a:solidFill>
              </a:defRPr>
            </a:pPr>
            <a:endParaRPr sz="1350" b="0" dirty="0">
              <a:solidFill>
                <a:srgbClr val="B9C1D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234207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1211</Words>
  <Application>Microsoft Office PowerPoint</Application>
  <DocSecurity>0</DocSecurity>
  <PresentationFormat>Widescreen</PresentationFormat>
  <Paragraphs>165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veerlakarthikeya036@gmail.com</cp:lastModifiedBy>
  <cp:revision>1</cp:revision>
  <dcterms:created xsi:type="dcterms:W3CDTF">2026-04-19T08:53:35Z</dcterms:created>
  <dcterms:modified xsi:type="dcterms:W3CDTF">2026-04-19T09:07:50Z</dcterms:modified>
</cp:coreProperties>
</file>